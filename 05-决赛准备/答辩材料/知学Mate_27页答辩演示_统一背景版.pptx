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31f5736c9b4199" /><Relationship Type="http://schemas.openxmlformats.org/officeDocument/2006/relationships/extended-properties" Target="/docProps/app.xml" Id="R0937ef9f7225437c" /><Relationship Type="http://schemas.openxmlformats.org/officeDocument/2006/relationships/officeDocument" Target="/ppt/presentation.xml" Id="Ra7e585bddfc543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e9dd60da2644f1"/>
  </p:sldMasterIdLst>
  <p:notesMasterIdLst>
    <p:notesMasterId xmlns:r="http://schemas.openxmlformats.org/officeDocument/2006/relationships" r:id="R130c0b9db25840e4"/>
  </p:notesMasterIdLst>
  <p:sldIdLst>
    <p:sldId xmlns:r="http://schemas.openxmlformats.org/officeDocument/2006/relationships" id="256" r:id="R90d00bcb0aaf4e2f"/>
    <p:sldId xmlns:r="http://schemas.openxmlformats.org/officeDocument/2006/relationships" id="257" r:id="Rc0b043ff598c4b1a"/>
    <p:sldId xmlns:r="http://schemas.openxmlformats.org/officeDocument/2006/relationships" id="258" r:id="R5876b2ed3fed4c9a"/>
    <p:sldId xmlns:r="http://schemas.openxmlformats.org/officeDocument/2006/relationships" id="259" r:id="Ra85d56927bb84acf"/>
    <p:sldId xmlns:r="http://schemas.openxmlformats.org/officeDocument/2006/relationships" id="260" r:id="Ra5d61caef32a478f"/>
    <p:sldId xmlns:r="http://schemas.openxmlformats.org/officeDocument/2006/relationships" id="261" r:id="Re109c40984204988"/>
    <p:sldId xmlns:r="http://schemas.openxmlformats.org/officeDocument/2006/relationships" id="262" r:id="R98932f5c6a074c29"/>
    <p:sldId xmlns:r="http://schemas.openxmlformats.org/officeDocument/2006/relationships" id="263" r:id="R2dbdaf4d62ac4d0b"/>
    <p:sldId xmlns:r="http://schemas.openxmlformats.org/officeDocument/2006/relationships" id="264" r:id="Rab9a89b813bb4fc1"/>
    <p:sldId xmlns:r="http://schemas.openxmlformats.org/officeDocument/2006/relationships" id="265" r:id="R575bbb1cb2e5476a"/>
    <p:sldId xmlns:r="http://schemas.openxmlformats.org/officeDocument/2006/relationships" id="266" r:id="Rb6a50369d7fd4625"/>
    <p:sldId xmlns:r="http://schemas.openxmlformats.org/officeDocument/2006/relationships" id="267" r:id="R22005649e5f341a3"/>
    <p:sldId xmlns:r="http://schemas.openxmlformats.org/officeDocument/2006/relationships" id="268" r:id="Rde3a70dbfa014270"/>
    <p:sldId xmlns:r="http://schemas.openxmlformats.org/officeDocument/2006/relationships" id="269" r:id="R3ce66af103ff4312"/>
    <p:sldId xmlns:r="http://schemas.openxmlformats.org/officeDocument/2006/relationships" id="270" r:id="R95b1c976b2114bc8"/>
    <p:sldId xmlns:r="http://schemas.openxmlformats.org/officeDocument/2006/relationships" id="271" r:id="R27b76985f6374592"/>
    <p:sldId xmlns:r="http://schemas.openxmlformats.org/officeDocument/2006/relationships" id="272" r:id="R54a01de57de24458"/>
    <p:sldId xmlns:r="http://schemas.openxmlformats.org/officeDocument/2006/relationships" id="273" r:id="R17dd6741f7ef49dc"/>
    <p:sldId xmlns:r="http://schemas.openxmlformats.org/officeDocument/2006/relationships" id="274" r:id="R53f0fe2ff4114dee"/>
    <p:sldId xmlns:r="http://schemas.openxmlformats.org/officeDocument/2006/relationships" id="275" r:id="R39ecfbc93fa3411a"/>
    <p:sldId xmlns:r="http://schemas.openxmlformats.org/officeDocument/2006/relationships" id="276" r:id="R0a94c71d4f5b4271"/>
    <p:sldId xmlns:r="http://schemas.openxmlformats.org/officeDocument/2006/relationships" id="277" r:id="R47339f3f95b546ab"/>
    <p:sldId xmlns:r="http://schemas.openxmlformats.org/officeDocument/2006/relationships" id="278" r:id="Rf3a28b6bd6a2434f"/>
    <p:sldId xmlns:r="http://schemas.openxmlformats.org/officeDocument/2006/relationships" id="279" r:id="Re55c321f9f8f4eac"/>
    <p:sldId xmlns:r="http://schemas.openxmlformats.org/officeDocument/2006/relationships" id="280" r:id="Rad82a93f8da64fbd"/>
    <p:sldId xmlns:r="http://schemas.openxmlformats.org/officeDocument/2006/relationships" id="281" r:id="Rd2c2f41bb4a84c0e"/>
    <p:sldId xmlns:r="http://schemas.openxmlformats.org/officeDocument/2006/relationships" id="282" r:id="R3b657d5f4c1043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9f5b132b8645ff" /><Relationship Type="http://schemas.openxmlformats.org/officeDocument/2006/relationships/slideMaster" Target="/ppt/slideMasters/slideMaster1.xml" Id="R8de9dd60da2644f1" /><Relationship Type="http://schemas.openxmlformats.org/officeDocument/2006/relationships/notesMaster" Target="/ppt/notesMasters/notesMaster1.xml" Id="R130c0b9db25840e4" /><Relationship Type="http://schemas.openxmlformats.org/officeDocument/2006/relationships/presProps" Target="/ppt/presProps.xml" Id="Rfac04d15ec6442a0" /><Relationship Type="http://schemas.openxmlformats.org/officeDocument/2006/relationships/viewProps" Target="/ppt/viewProps.xml" Id="R2ed60ecc1a354932" /><Relationship Type="http://schemas.openxmlformats.org/officeDocument/2006/relationships/tableStyles" Target="/ppt/tableStyles.xml" Id="R0958cd96d5fa49d7" /><Relationship Type="http://schemas.openxmlformats.org/officeDocument/2006/relationships/slide" Target="/ppt/slides/slide1.xml" Id="R90d00bcb0aaf4e2f" /><Relationship Type="http://schemas.openxmlformats.org/officeDocument/2006/relationships/slide" Target="/ppt/slides/slide2.xml" Id="Rc0b043ff598c4b1a" /><Relationship Type="http://schemas.openxmlformats.org/officeDocument/2006/relationships/slide" Target="/ppt/slides/slide3.xml" Id="R5876b2ed3fed4c9a" /><Relationship Type="http://schemas.openxmlformats.org/officeDocument/2006/relationships/slide" Target="/ppt/slides/slide4.xml" Id="Ra85d56927bb84acf" /><Relationship Type="http://schemas.openxmlformats.org/officeDocument/2006/relationships/slide" Target="/ppt/slides/slide5.xml" Id="Ra5d61caef32a478f" /><Relationship Type="http://schemas.openxmlformats.org/officeDocument/2006/relationships/slide" Target="/ppt/slides/slide6.xml" Id="Re109c40984204988" /><Relationship Type="http://schemas.openxmlformats.org/officeDocument/2006/relationships/slide" Target="/ppt/slides/slide7.xml" Id="R98932f5c6a074c29" /><Relationship Type="http://schemas.openxmlformats.org/officeDocument/2006/relationships/slide" Target="/ppt/slides/slide8.xml" Id="R2dbdaf4d62ac4d0b" /><Relationship Type="http://schemas.openxmlformats.org/officeDocument/2006/relationships/slide" Target="/ppt/slides/slide9.xml" Id="Rab9a89b813bb4fc1" /><Relationship Type="http://schemas.openxmlformats.org/officeDocument/2006/relationships/slide" Target="/ppt/slides/slide10.xml" Id="R575bbb1cb2e5476a" /><Relationship Type="http://schemas.openxmlformats.org/officeDocument/2006/relationships/slide" Target="/ppt/slides/slide11.xml" Id="Rb6a50369d7fd4625" /><Relationship Type="http://schemas.openxmlformats.org/officeDocument/2006/relationships/slide" Target="/ppt/slides/slide12.xml" Id="R22005649e5f341a3" /><Relationship Type="http://schemas.openxmlformats.org/officeDocument/2006/relationships/slide" Target="/ppt/slides/slide13.xml" Id="Rde3a70dbfa014270" /><Relationship Type="http://schemas.openxmlformats.org/officeDocument/2006/relationships/slide" Target="/ppt/slides/slide14.xml" Id="R3ce66af103ff4312" /><Relationship Type="http://schemas.openxmlformats.org/officeDocument/2006/relationships/slide" Target="/ppt/slides/slide15.xml" Id="R95b1c976b2114bc8" /><Relationship Type="http://schemas.openxmlformats.org/officeDocument/2006/relationships/slide" Target="/ppt/slides/slide16.xml" Id="R27b76985f6374592" /><Relationship Type="http://schemas.openxmlformats.org/officeDocument/2006/relationships/slide" Target="/ppt/slides/slide17.xml" Id="R54a01de57de24458" /><Relationship Type="http://schemas.openxmlformats.org/officeDocument/2006/relationships/slide" Target="/ppt/slides/slide18.xml" Id="R17dd6741f7ef49dc" /><Relationship Type="http://schemas.openxmlformats.org/officeDocument/2006/relationships/slide" Target="/ppt/slides/slide19.xml" Id="R53f0fe2ff4114dee" /><Relationship Type="http://schemas.openxmlformats.org/officeDocument/2006/relationships/slide" Target="/ppt/slides/slide20.xml" Id="R39ecfbc93fa3411a" /><Relationship Type="http://schemas.openxmlformats.org/officeDocument/2006/relationships/slide" Target="/ppt/slides/slide21.xml" Id="R0a94c71d4f5b4271" /><Relationship Type="http://schemas.openxmlformats.org/officeDocument/2006/relationships/slide" Target="/ppt/slides/slide22.xml" Id="R47339f3f95b546ab" /><Relationship Type="http://schemas.openxmlformats.org/officeDocument/2006/relationships/slide" Target="/ppt/slides/slide23.xml" Id="Rf3a28b6bd6a2434f" /><Relationship Type="http://schemas.openxmlformats.org/officeDocument/2006/relationships/slide" Target="/ppt/slides/slide24.xml" Id="Re55c321f9f8f4eac" /><Relationship Type="http://schemas.openxmlformats.org/officeDocument/2006/relationships/slide" Target="/ppt/slides/slide25.xml" Id="Rad82a93f8da64fbd" /><Relationship Type="http://schemas.openxmlformats.org/officeDocument/2006/relationships/slide" Target="/ppt/slides/slide26.xml" Id="Rd2c2f41bb4a84c0e" /><Relationship Type="http://schemas.openxmlformats.org/officeDocument/2006/relationships/slide" Target="/ppt/slides/slide27.xml" Id="R3b657d5f4c1043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ce9a5c476b46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b70b5b8aa445e9" /><Relationship Type="http://schemas.openxmlformats.org/officeDocument/2006/relationships/notesMaster" Target="/ppt/notesMasters/notesMaster1.xml" Id="Rc832603642bd48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9464a7a724297" /><Relationship Type="http://schemas.openxmlformats.org/officeDocument/2006/relationships/notesMaster" Target="/ppt/notesMasters/notesMaster1.xml" Id="R3ea55952bd6e40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ea3db0f5e04352" /><Relationship Type="http://schemas.openxmlformats.org/officeDocument/2006/relationships/notesMaster" Target="/ppt/notesMasters/notesMaster1.xml" Id="Rc087ced2a59f46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224c12bab44845" /><Relationship Type="http://schemas.openxmlformats.org/officeDocument/2006/relationships/notesMaster" Target="/ppt/notesMasters/notesMaster1.xml" Id="R8d57d84a162349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8a37c1dc364f3d" /><Relationship Type="http://schemas.openxmlformats.org/officeDocument/2006/relationships/notesMaster" Target="/ppt/notesMasters/notesMaster1.xml" Id="R45c6328767ac4a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9fc51c2a2741ea" /><Relationship Type="http://schemas.openxmlformats.org/officeDocument/2006/relationships/notesMaster" Target="/ppt/notesMasters/notesMaster1.xml" Id="R12dd95772da44f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ccca7087c14150" /><Relationship Type="http://schemas.openxmlformats.org/officeDocument/2006/relationships/notesMaster" Target="/ppt/notesMasters/notesMaster1.xml" Id="Rf49c0227b11641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983e46b5f440c2" /><Relationship Type="http://schemas.openxmlformats.org/officeDocument/2006/relationships/notesMaster" Target="/ppt/notesMasters/notesMaster1.xml" Id="Ra55a1398f8b940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ec6e5a854c4af7" /><Relationship Type="http://schemas.openxmlformats.org/officeDocument/2006/relationships/notesMaster" Target="/ppt/notesMasters/notesMaster1.xml" Id="Rfac95b05d8154a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0bc938e64c4cda" /><Relationship Type="http://schemas.openxmlformats.org/officeDocument/2006/relationships/notesMaster" Target="/ppt/notesMasters/notesMaster1.xml" Id="R4e8cf5d8a1134a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89e4f7aa2047de" /><Relationship Type="http://schemas.openxmlformats.org/officeDocument/2006/relationships/notesMaster" Target="/ppt/notesMasters/notesMaster1.xml" Id="R0499a99089c549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cb2cd3583546c8" /><Relationship Type="http://schemas.openxmlformats.org/officeDocument/2006/relationships/notesMaster" Target="/ppt/notesMasters/notesMaster1.xml" Id="R0d0295b95ba440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fcf9c3788b4c0d" /><Relationship Type="http://schemas.openxmlformats.org/officeDocument/2006/relationships/notesMaster" Target="/ppt/notesMasters/notesMaster1.xml" Id="R99f60475d6f14f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2009e214394ebf" /><Relationship Type="http://schemas.openxmlformats.org/officeDocument/2006/relationships/notesMaster" Target="/ppt/notesMasters/notesMaster1.xml" Id="Re9f08b4105b94d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2617d95a6d4799" /><Relationship Type="http://schemas.openxmlformats.org/officeDocument/2006/relationships/notesMaster" Target="/ppt/notesMasters/notesMaster1.xml" Id="R0a2d6d936fbc4a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a21aba16954810" /><Relationship Type="http://schemas.openxmlformats.org/officeDocument/2006/relationships/notesMaster" Target="/ppt/notesMasters/notesMaster1.xml" Id="R73a0c7c7e80149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7472185cc246a2" /><Relationship Type="http://schemas.openxmlformats.org/officeDocument/2006/relationships/notesMaster" Target="/ppt/notesMasters/notesMaster1.xml" Id="Rf70ece868a1548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0f71ec8b0a44c0" /><Relationship Type="http://schemas.openxmlformats.org/officeDocument/2006/relationships/notesMaster" Target="/ppt/notesMasters/notesMaster1.xml" Id="R9d119170ff294d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8b429f8ed24c2e" /><Relationship Type="http://schemas.openxmlformats.org/officeDocument/2006/relationships/notesMaster" Target="/ppt/notesMasters/notesMaster1.xml" Id="Rf2b682c4ffea40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064649bc584972" /><Relationship Type="http://schemas.openxmlformats.org/officeDocument/2006/relationships/notesMaster" Target="/ppt/notesMasters/notesMaster1.xml" Id="R1adb66533eb34b5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f5e960b9db4644" /><Relationship Type="http://schemas.openxmlformats.org/officeDocument/2006/relationships/notesMaster" Target="/ppt/notesMasters/notesMaster1.xml" Id="Ra7520bb7b78744f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6cd27592354188" /><Relationship Type="http://schemas.openxmlformats.org/officeDocument/2006/relationships/notesMaster" Target="/ppt/notesMasters/notesMaster1.xml" Id="R85bb61eda7904c9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b0c9ab5fd64a88" /><Relationship Type="http://schemas.openxmlformats.org/officeDocument/2006/relationships/notesMaster" Target="/ppt/notesMasters/notesMaster1.xml" Id="R3fbfe89dc9da43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b05ef8ab654e71" /><Relationship Type="http://schemas.openxmlformats.org/officeDocument/2006/relationships/notesMaster" Target="/ppt/notesMasters/notesMaster1.xml" Id="R4306ae0bb065429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6c3c4a354394226" /><Relationship Type="http://schemas.openxmlformats.org/officeDocument/2006/relationships/notesMaster" Target="/ppt/notesMasters/notesMaster1.xml" Id="R4fda5cffd6934a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b0ef9121e764f0d" /><Relationship Type="http://schemas.openxmlformats.org/officeDocument/2006/relationships/notesMaster" Target="/ppt/notesMasters/notesMaster1.xml" Id="R4b322b31e13d4f4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c3d5239375d4dd8" /><Relationship Type="http://schemas.openxmlformats.org/officeDocument/2006/relationships/notesMaster" Target="/ppt/notesMasters/notesMaster1.xml" Id="R8387d04db4f94d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开场：我们是暗影骑士王们。知学 Mate 是一个会主动算、并且算得出来的学习搭子。它不是等待提问的问答壳，而是会推动用户走完诊断、规划、练习、测评和重规划闭环的主动助学 Agent。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市面上的 AI 学习工具大多是问答壳。知学 Mate 的差别在于闭环：诊断薄弱点、规划顺序、推送练习、完成测评，再自动更新计划。所有分数、掌握度和优先级由确定性代码计算，同一份输入得到同一个结果。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四个断层分别对应优先级缺失、错题沉淀不足、计划无法更新和设备切换造成的上下文丢失。下一部分会展示产品如何逐项回应。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这四条是设计纪律，不是宣传口号。它们约束模型职责、数值来源、降级表现和可追溯边界。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标签依次回答：我直接要什么、系统替我做什么、我要处理什么、我学得怎么样。当前页使用新版对话、学习建议、专项练习和知识画像界面截图，用于展示当前产品形态；准确业务数据以本演示文稿和技术报告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 Agent 对应五种认知职能：诊断、规划、练习、测评和秘书总控。它们不是五个独立模型，编排由确定性状态机完成。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完整动线从进入演示身份开始，经过建议、因子解释、专注、拍照诊断、专项练习、判分和重规划，最后查看 Agent 决策轨迹。第 9 到第 12 步是关键证据点。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优先级的五因子权重是掌握度 30%、错误强度 25%、重要性 20%、紧迫度 15%、前置影响 10%。用户点开“为什么是它”时，可以逐项看到原始值、权重和贡献分。权重是基于学习科学常识和团队讨论设定的先验值，不是拟合结果。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用户拍一张哈希冲突错题图，后端走通义千问 Qwen-VL，返回知识点、错误类型和补强建议。实测 4.7 秒返回哈希表和概念混淆。哈希表不在题库时，系统会生成三道针对该知识点的新题。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提交 A/B/A 后两对一错，得分 66.67。分数落在大于等于 60 的档位，所以掌握度增加 16，从 42 到 58。关键点是同一份答案无论运行多少次都得到同样结果。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答错后系统判定需要重规划，计划从 V1 升到 V2。两条任务的时长从 30/30 变为 45/15，薄弱知识点时间变长，另一个压缩。版本差异可查，用户能看到改了什么以及为什么改。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用户在手机选择本次要完成的一件事并开始专注，计时中拿起平板，平板卡片直接显示“接着做”。双端实测建立了同一个分布式会话 zhixue_mate_study_continuity_v1。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学习搭子匹配采用五因子确定性算分：目标一致 30 分、时间重叠 30 分、知识互补 20 分、基础匹配 10 分、稳定性 10 分。新版界面截图中的候选人为周沐晴，总分 50 分，因子得分依次为 0、30、0、10、10。右侧雷达图与截图使用同一组数据，确保总分和构成一致。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这一页只讲混合检索架构和模式如实上报，不声称语义检索已在生产生效。当前数据量下语义重排会因 embedding 接口单请求上限与批量条数不匹配而失败，随后静默退回关键词匹配，已列入待修清单。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这一页使用最新版 Agent Trace 界面，展示了轨迹编号、学习评估、计划调整、相关证据和状态版本，能够直接说明 Agent 决策过程可追溯。完整调用链示例为 secretary 到 exercise 到 assessment，对应 select_exercises、grade_exercise、update_mastery。系统只记录决策与工具调用，不记录模型思维链。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表现层是 HarmonyOS ArkTS 前端，20 个页面，含服务卡片与小艺意图入口；Agent 层是 Python 单进程、单端口，同时提供自然语言层和结构化工作流层；计算层全部是确定性代码，负责判分、掌握度、优先级和重规划。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这是全片最重要的一页。大模型只负责理解意图、生成自然语言和识别错题图片；所有业务计算都留在确定性代码里。强结论是把大模型整个拔掉，闭环依然跑得完，而且基线数值不变。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优先级使用五因子加权，每个因子输出原始值、权重和贡献分。掌握度更新分四档：满分 +29，大于等于 60 分 +16，大于等于 40 分 +4，低于 40 分 −4，并做 0 到 100 截断。规则在 app/decision 和 app/tools 中，是纯函数，不依赖外部服务。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OpenAPI 契约是唯一真源，前端有逐字节一致的镜像。当前规模 39 个端点、44 个操作、64 个 schema、15 个错误码，契约 130,731 字节。每个请求带 X-API-Contract-Version 头，版本不匹配返回 409。三道闸门用于自动校验契约与实现的漂移。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集成 7 项鸿蒙特性：服务卡片、小艺意图、本地通知与主动提醒、语音输入、华为账号一键登录、令牌加密落盘、大屏适配。另有全场景分布式接续，位于学习专注主链路。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工程质量由多项验证记录共同支撑：388 个后端单元测试全绿；98 项 HTTP 联调 100% 通过；三轮审计发现 34 项问题，修复 28 项，含 5 个最高优先级；大屏布局偏差 0 到 8 像素。另附契约核对、ArkTS 重编和签名 HAP 摘要。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七个关键演示值写在一键联调脚本的断言里。判分 66.67，全对 100.0，全错 0.0，掌握度 42 到 58，profileVersion 和 planVersion 均从 1 到 2，任务时长从 30/30 调整到 45/15。POST /api/v1/demo/reset 可复位演示数据。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主动交代四项边界：华为账号一键登录没有服务端 OpenID 验签；当前数据量下语义重排未实际生效；没有做真机测试；作品说明文档插图和演示视频仍在收尾。知道边界在哪，比假装没有边界更重要。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四条创新分别对应可解释推荐、确定性计算、默认可追溯和诚实降级，每条都能落到前面的功能或工程证据上。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前景分为三条路径：横向从一个学生扩到课程和班级；纵向从课后补救前移到课前预习；形态上依托鸿蒙服务卡片与小艺意图，变成随时可唤起的系统级能力。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团队三名成员分别覆盖产品架构与总控、Agent 逻辑与算法、HarmonyOS 前端开发。指导教师为罗芳。团队通过统一数据结构与功能逻辑协调前后端协作。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结束页。感谢评委时间，欢迎提问。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7bff2ad8a4e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009d5073254bd9" /><Relationship Type="http://schemas.openxmlformats.org/officeDocument/2006/relationships/slideLayout" Target="/ppt/slideLayouts/slideLayout1.xml" Id="R2e75ace73bda488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75ace73bda48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8a75807604d9e" /><Relationship Type="http://schemas.openxmlformats.org/officeDocument/2006/relationships/image" Target="/ppt/media/image.png" Id="Rd4b0ba3e9dba4da4" /><Relationship Type="http://schemas.openxmlformats.org/officeDocument/2006/relationships/image" Target="/ppt/media/image2.png" Id="R05e904888a5e4388" /><Relationship Type="http://schemas.openxmlformats.org/officeDocument/2006/relationships/notesSlide" Target="/ppt/notesSlides/notesSlide1.xml" Id="R727554fe671944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0ad9fedff4aed" /><Relationship Type="http://schemas.openxmlformats.org/officeDocument/2006/relationships/image" Target="/ppt/media/image3.png" Id="Rab18b3fdb5a84a35" /><Relationship Type="http://schemas.openxmlformats.org/officeDocument/2006/relationships/notesSlide" Target="/ppt/notesSlides/notesSlide2.xml" Id="R8ad142abf8aa4d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d38d578c34e7e" /><Relationship Type="http://schemas.openxmlformats.org/officeDocument/2006/relationships/image" Target="/ppt/media/image4.png" Id="Rf4646af5d0614dee" /><Relationship Type="http://schemas.openxmlformats.org/officeDocument/2006/relationships/notesSlide" Target="/ppt/notesSlides/notesSlide3.xml" Id="R9c6875e9474748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1e74c64ce4ef1" /><Relationship Type="http://schemas.openxmlformats.org/officeDocument/2006/relationships/image" Target="/ppt/media/image5.png" Id="R0f617decce0f4a31" /><Relationship Type="http://schemas.openxmlformats.org/officeDocument/2006/relationships/notesSlide" Target="/ppt/notesSlides/notesSlide4.xml" Id="Raad888b9164e45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1786e36f74f14" /><Relationship Type="http://schemas.openxmlformats.org/officeDocument/2006/relationships/image" Target="/ppt/media/image6.png" Id="Rd27b6b8916744ba6" /><Relationship Type="http://schemas.openxmlformats.org/officeDocument/2006/relationships/image" Target="/ppt/media/image7.png" Id="R92e8f5d9ecc64c34" /><Relationship Type="http://schemas.openxmlformats.org/officeDocument/2006/relationships/image" Target="/ppt/media/image8.png" Id="R8b30e5c16828451d" /><Relationship Type="http://schemas.openxmlformats.org/officeDocument/2006/relationships/image" Target="/ppt/media/image9.png" Id="Re873abe814854c29" /><Relationship Type="http://schemas.openxmlformats.org/officeDocument/2006/relationships/image" Target="/ppt/media/image10.png" Id="R905710880c364284" /><Relationship Type="http://schemas.openxmlformats.org/officeDocument/2006/relationships/notesSlide" Target="/ppt/notesSlides/notesSlide5.xml" Id="Rce4a0b7c62964c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6e587f23e4662" /><Relationship Type="http://schemas.openxmlformats.org/officeDocument/2006/relationships/image" Target="/ppt/media/image11.png" Id="R53972e362e5640ba" /><Relationship Type="http://schemas.openxmlformats.org/officeDocument/2006/relationships/notesSlide" Target="/ppt/notesSlides/notesSlide6.xml" Id="R4e6e55f8d8eb4b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9530975dc4e47" /><Relationship Type="http://schemas.openxmlformats.org/officeDocument/2006/relationships/image" Target="/ppt/media/image12.png" Id="R1d9c6e0c2a184524" /><Relationship Type="http://schemas.openxmlformats.org/officeDocument/2006/relationships/notesSlide" Target="/ppt/notesSlides/notesSlide7.xml" Id="Rf1836460bc6040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3cc3a90c64e56" /><Relationship Type="http://schemas.openxmlformats.org/officeDocument/2006/relationships/image" Target="/ppt/media/image13.png" Id="Ra31326e419164b05" /><Relationship Type="http://schemas.openxmlformats.org/officeDocument/2006/relationships/chart" Target="/ppt/slides/charts/chart1.xml" Id="R60247ba9ddd14c32" /><Relationship Type="http://schemas.openxmlformats.org/officeDocument/2006/relationships/image" Target="/ppt/media/image14.png" Id="R5d08705a2a9c470d" /><Relationship Type="http://schemas.openxmlformats.org/officeDocument/2006/relationships/notesSlide" Target="/ppt/notesSlides/notesSlide8.xml" Id="Rc0084d5f738849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8a33cc4cf4c67" /><Relationship Type="http://schemas.openxmlformats.org/officeDocument/2006/relationships/image" Target="/ppt/media/image15.png" Id="R0b3e1355e8324ecb" /><Relationship Type="http://schemas.openxmlformats.org/officeDocument/2006/relationships/image" Target="/ppt/media/image16.png" Id="R924cd28d01964647" /><Relationship Type="http://schemas.openxmlformats.org/officeDocument/2006/relationships/notesSlide" Target="/ppt/notesSlides/notesSlide9.xml" Id="R4754ab1f385649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40dcdeba041c0" /><Relationship Type="http://schemas.openxmlformats.org/officeDocument/2006/relationships/image" Target="/ppt/media/image17.png" Id="Rb5450ebe573946fd" /><Relationship Type="http://schemas.openxmlformats.org/officeDocument/2006/relationships/notesSlide" Target="/ppt/notesSlides/notesSlide10.xml" Id="R5a4af933de7841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2c370a1ad4c67" /><Relationship Type="http://schemas.openxmlformats.org/officeDocument/2006/relationships/image" Target="/ppt/media/image18.png" Id="Rcbef2fc67ad544bd" /><Relationship Type="http://schemas.openxmlformats.org/officeDocument/2006/relationships/notesSlide" Target="/ppt/notesSlides/notesSlide11.xml" Id="Rdbf802d43c1540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7de0730624b33" /><Relationship Type="http://schemas.openxmlformats.org/officeDocument/2006/relationships/image" Target="/ppt/media/image19.png" Id="R8494aed5f14e4d81" /><Relationship Type="http://schemas.openxmlformats.org/officeDocument/2006/relationships/notesSlide" Target="/ppt/notesSlides/notesSlide12.xml" Id="R74013faf8eb74c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5eb78e8424bde" /><Relationship Type="http://schemas.openxmlformats.org/officeDocument/2006/relationships/image" Target="/ppt/media/image20.png" Id="Ra848abe0685f4964" /><Relationship Type="http://schemas.openxmlformats.org/officeDocument/2006/relationships/image" Target="/ppt/media/image21.png" Id="Rc21195195f504b45" /><Relationship Type="http://schemas.openxmlformats.org/officeDocument/2006/relationships/chart" Target="/ppt/slides/charts/chart2.xml" Id="Rf67ad14fb6474e37" /><Relationship Type="http://schemas.openxmlformats.org/officeDocument/2006/relationships/notesSlide" Target="/ppt/notesSlides/notesSlide13.xml" Id="Rf75354eeff0a4c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dea56b63f4fec" /><Relationship Type="http://schemas.openxmlformats.org/officeDocument/2006/relationships/image" Target="/ppt/media/image22.png" Id="Rdd5362af800f48a0" /><Relationship Type="http://schemas.openxmlformats.org/officeDocument/2006/relationships/notesSlide" Target="/ppt/notesSlides/notesSlide14.xml" Id="Rd0d4414ea31842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e0eaf458f4c2e" /><Relationship Type="http://schemas.openxmlformats.org/officeDocument/2006/relationships/image" Target="/ppt/media/image23.png" Id="R62a978f75954456b" /><Relationship Type="http://schemas.openxmlformats.org/officeDocument/2006/relationships/image" Target="/ppt/media/image24.png" Id="R98604dc71799475f" /><Relationship Type="http://schemas.openxmlformats.org/officeDocument/2006/relationships/notesSlide" Target="/ppt/notesSlides/notesSlide15.xml" Id="Rc0ec5ab554104b7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7ba1cb5784d02" /><Relationship Type="http://schemas.openxmlformats.org/officeDocument/2006/relationships/image" Target="/ppt/media/image25.png" Id="R24d6c1bf301f469b" /><Relationship Type="http://schemas.openxmlformats.org/officeDocument/2006/relationships/notesSlide" Target="/ppt/notesSlides/notesSlide16.xml" Id="Rba4fa350e0aa48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c46a49ed44162" /><Relationship Type="http://schemas.openxmlformats.org/officeDocument/2006/relationships/image" Target="/ppt/media/image26.png" Id="R93f7136c4a6641ae" /><Relationship Type="http://schemas.openxmlformats.org/officeDocument/2006/relationships/notesSlide" Target="/ppt/notesSlides/notesSlide17.xml" Id="R0e641f0aa84245e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7df174ac14894" /><Relationship Type="http://schemas.openxmlformats.org/officeDocument/2006/relationships/image" Target="/ppt/media/image27.png" Id="R14c26b02035f4f5d" /><Relationship Type="http://schemas.openxmlformats.org/officeDocument/2006/relationships/notesSlide" Target="/ppt/notesSlides/notesSlide18.xml" Id="Rd94616e095584e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5a620d1d243a6" /><Relationship Type="http://schemas.openxmlformats.org/officeDocument/2006/relationships/image" Target="/ppt/media/image28.png" Id="R48d50851e3b84270" /><Relationship Type="http://schemas.openxmlformats.org/officeDocument/2006/relationships/notesSlide" Target="/ppt/notesSlides/notesSlide19.xml" Id="Rec8081c2390746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6beba0809467d" /><Relationship Type="http://schemas.openxmlformats.org/officeDocument/2006/relationships/image" Target="/ppt/media/image29.png" Id="Rb0df459b74fd4c1b" /><Relationship Type="http://schemas.openxmlformats.org/officeDocument/2006/relationships/notesSlide" Target="/ppt/notesSlides/notesSlide20.xml" Id="R48bb84898b294d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e36df6cbd4a54" /><Relationship Type="http://schemas.openxmlformats.org/officeDocument/2006/relationships/image" Target="/ppt/media/image30.png" Id="R63fcd514d235419f" /><Relationship Type="http://schemas.openxmlformats.org/officeDocument/2006/relationships/notesSlide" Target="/ppt/notesSlides/notesSlide21.xml" Id="Ra76eac35671c491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a53b46426471d" /><Relationship Type="http://schemas.openxmlformats.org/officeDocument/2006/relationships/image" Target="/ppt/media/image31.png" Id="Rd5e0e5d9d373466d" /><Relationship Type="http://schemas.openxmlformats.org/officeDocument/2006/relationships/notesSlide" Target="/ppt/notesSlides/notesSlide22.xml" Id="Rb58a8e7525ed46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b06f4c7fa4b78" /><Relationship Type="http://schemas.openxmlformats.org/officeDocument/2006/relationships/image" Target="/ppt/media/image32.png" Id="R3aeac6597cc64301" /><Relationship Type="http://schemas.openxmlformats.org/officeDocument/2006/relationships/notesSlide" Target="/ppt/notesSlides/notesSlide23.xml" Id="R06ad7b20d14245b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8b9ef0dcc47c8" /><Relationship Type="http://schemas.openxmlformats.org/officeDocument/2006/relationships/image" Target="/ppt/media/image33.png" Id="Rd6ee52b31fb34469" /><Relationship Type="http://schemas.openxmlformats.org/officeDocument/2006/relationships/notesSlide" Target="/ppt/notesSlides/notesSlide24.xml" Id="Reedf8b9209ea438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64257385f4baf" /><Relationship Type="http://schemas.openxmlformats.org/officeDocument/2006/relationships/image" Target="/ppt/media/image34.png" Id="R49ac5354dcfc498a" /><Relationship Type="http://schemas.openxmlformats.org/officeDocument/2006/relationships/notesSlide" Target="/ppt/notesSlides/notesSlide25.xml" Id="R32fb5bc781c74d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ff70d76914a33" /><Relationship Type="http://schemas.openxmlformats.org/officeDocument/2006/relationships/image" Target="/ppt/media/image35.png" Id="R2930fb3f5fce467e" /><Relationship Type="http://schemas.openxmlformats.org/officeDocument/2006/relationships/notesSlide" Target="/ppt/notesSlides/notesSlide26.xml" Id="Recd001af2ecd4be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ace0cb2764c68" /><Relationship Type="http://schemas.openxmlformats.org/officeDocument/2006/relationships/image" Target="/ppt/media/image36.png" Id="Rf1565b422adf4c0d" /><Relationship Type="http://schemas.openxmlformats.org/officeDocument/2006/relationships/notesSlide" Target="/ppt/notesSlides/notesSlide27.xml" Id="R9846c56cca304b6a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权重</c:f>
              <c:strCache>
                <c:ptCount val="1"/>
                <c:pt idx="0">
                  <c:v>权重</c:v>
                </c:pt>
              </c:strCache>
            </c:strRef>
          </c:tx>
          <c:spPr>
            <a:solidFill xmlns:a="http://schemas.openxmlformats.org/drawingml/2006/main">
              <a:srgbClr val="2563EB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掌握度</c:v>
                </c:pt>
                <c:pt idx="1">
                  <c:v>错误强度</c:v>
                </c:pt>
                <c:pt idx="2">
                  <c:v>重要性</c:v>
                </c:pt>
                <c:pt idx="3">
                  <c:v>紧迫度</c:v>
                </c:pt>
                <c:pt idx="4">
                  <c:v>前置影响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0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25" b="0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radarChart>
        <c:radarStyle val="standard"/>
        <c:ser>
          <c:idx val="0"/>
          <c:order val="0"/>
          <c:tx>
            <c:strRef>
              <c:f>当前匹配分</c:f>
              <c:strCache>
                <c:ptCount val="1"/>
                <c:pt idx="0">
                  <c:v>当前匹配分</c:v>
                </c:pt>
              </c:strCache>
            </c:strRef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563EB"/>
              </a:solidFill>
            </c:spPr>
          </c:marker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Data'!$A$2:$A$6</c:f>
              <c:strCache>
                <c:ptCount val="5"/>
                <c:pt idx="0">
                  <c:v>目标一致</c:v>
                </c:pt>
                <c:pt idx="1">
                  <c:v>时段重合</c:v>
                </c:pt>
                <c:pt idx="2">
                  <c:v>知识互补</c:v>
                </c:pt>
                <c:pt idx="3">
                  <c:v>基础匹配</c:v>
                </c:pt>
                <c:pt idx="4">
                  <c:v>时间稳定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</c:v>
                </c:pt>
                <c:pt idx="1">
                  <c:v>30</c:v>
                </c:pt>
                <c:pt idx="2">
                  <c:v>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es val="autoZero"/>
        <c:crossBetween val="between"/>
        <c:majorUnit val="1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0ba3e9dba4da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904888a5e43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00" y="476250"/>
            <a:ext cx="2057400" cy="2057400"/>
          </a:xfrm>
          <a:prstGeom xmlns:a="http://schemas.openxmlformats.org/drawingml/2006/main" prst="roundRect">
            <a:avLst>
              <a:gd name="adj" fmla="val 21296"/>
            </a:avLst>
          </a:prstGeom>
        </p:spPr>
      </p:pic>
      <p:sp>
        <p:nvSpPr>
          <p:cNvPr id="3" name="cover-product">
            <a:extLst xmlns:a="http://schemas.openxmlformats.org/drawingml/2006/main">
              <a:ext uri="{FF2B5EF4-FFF2-40B4-BE49-F238E27FC236}">
                <a16:creationId xmlns:a16="http://schemas.microsoft.com/office/drawing/2014/main" id="{6834862A-DAD5-4E75-9C73-D63490EE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278320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8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知学 Mate</a:t>
            </a:r>
            <a:endParaRPr sz="48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BBE7B89-83BA-474F-8701-02BBFAB0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485" y="4033520"/>
            <a:ext cx="676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BFDBFE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BFDBFE"/>
                </a:solidFill>
                <a:latin typeface="Noto Sans SC"/>
                <a:ea typeface="Noto Sans SC"/>
                <a:cs typeface="Noto Sans SC"/>
              </a:rPr>
              <a:t>会主动算、并且算得出来的学习搭子</a:t>
            </a:r>
            <a:endParaRPr sz="2100" b="1">
              <a:solidFill>
                <a:srgbClr val="BFDBF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65B64989-2E00-4834-B05A-86F2FAC1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740" y="4940935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DBEAFE"/>
                </a:solidFill>
                <a:latin typeface="Noto Sans SC"/>
                <a:ea typeface="Noto Sans SC"/>
                <a:cs typeface="Noto Sans SC"/>
              </a:rPr>
              <a:t>主动诊断、规划、练习、测评与重规划，形成可解释、可追溯的学习闭环</a:t>
            </a:r>
            <a:endParaRPr sz="1500" b="0">
              <a:solidFill>
                <a:srgbClr val="DBEAF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cover-line">
            <a:extLst xmlns:a="http://schemas.openxmlformats.org/drawingml/2006/main">
              <a:ext uri="{FF2B5EF4-FFF2-40B4-BE49-F238E27FC236}">
                <a16:creationId xmlns:a16="http://schemas.microsoft.com/office/drawing/2014/main" id="{CE77CAE9-0803-4B8D-A2F7-A0BE2C48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640" y="6237605"/>
            <a:ext cx="590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749B"/>
            </a:solidFill>
            <a:prstDash val="solid"/>
          </a:ln>
        </p:spPr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AEA2922A-FDE4-4C22-9F58-2ADC42A4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605" y="640270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E2E8F0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2E8F0"/>
                </a:solidFill>
                <a:latin typeface="Noto Sans SC"/>
                <a:ea typeface="Noto Sans SC"/>
                <a:cs typeface="Noto Sans SC"/>
              </a:rPr>
              <a:t>2026 中国高校计算机大赛 · 人工智能创意赛 · 鸿蒙赛道 · Agent 创新方向</a:t>
            </a:r>
            <a:endParaRPr sz="1275" b="0">
              <a:solidFill>
                <a:srgbClr val="E2E8F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cover-team">
            <a:extLst xmlns:a="http://schemas.openxmlformats.org/drawingml/2006/main">
              <a:ext uri="{FF2B5EF4-FFF2-40B4-BE49-F238E27FC236}">
                <a16:creationId xmlns:a16="http://schemas.microsoft.com/office/drawing/2014/main" id="{A9D32550-E3AA-4B78-A4AB-54CD5336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935" y="640270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93C5FD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93C5FD"/>
                </a:solidFill>
                <a:latin typeface="Noto Sans SC"/>
                <a:ea typeface="Noto Sans SC"/>
                <a:cs typeface="Noto Sans SC"/>
              </a:rPr>
              <a:t>暗影骑士王们 · 武汉理工大学</a:t>
            </a:r>
            <a:endParaRPr sz="1425" b="1">
              <a:solidFill>
                <a:srgbClr val="93C5FD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675828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8b3fdb5a84a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0" name="accent-2">
            <a:extLst xmlns:a="http://schemas.openxmlformats.org/drawingml/2006/main">
              <a:ext uri="{FF2B5EF4-FFF2-40B4-BE49-F238E27FC236}">
                <a16:creationId xmlns:a16="http://schemas.microsoft.com/office/drawing/2014/main" id="{8845866C-32F9-4720-9906-23FDFCA0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86331AE-D9A5-4BF8-BDA8-66A72B7B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从问答壳到主动学习闭环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7151C91D-8096-4C54-A1ED-70AD7A07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同一张学习数据，知学 Mate 不只回答，还会推动下一步行动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895BBE8B-2613-486D-8185-67BA9000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C114BC4F-C872-4FD0-96BF-3D50ED9F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E0447953-32C9-4848-BA36-30EF2A4B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shell-bg">
            <a:extLst xmlns:a="http://schemas.openxmlformats.org/drawingml/2006/main">
              <a:ext uri="{FF2B5EF4-FFF2-40B4-BE49-F238E27FC236}">
                <a16:creationId xmlns:a16="http://schemas.microsoft.com/office/drawing/2014/main" id="{E8D39280-EB30-4DB3-84BC-E922960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417195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shell-tag">
            <a:extLst xmlns:a="http://schemas.openxmlformats.org/drawingml/2006/main">
              <a:ext uri="{FF2B5EF4-FFF2-40B4-BE49-F238E27FC236}">
                <a16:creationId xmlns:a16="http://schemas.microsoft.com/office/drawing/2014/main" id="{ABB1E2D9-9603-40D4-B4DE-805D81F5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常见工具</a:t>
            </a:r>
            <a:endParaRPr sz="1050" b="1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shell-title">
            <a:extLst xmlns:a="http://schemas.openxmlformats.org/drawingml/2006/main">
              <a:ext uri="{FF2B5EF4-FFF2-40B4-BE49-F238E27FC236}">
                <a16:creationId xmlns:a16="http://schemas.microsoft.com/office/drawing/2014/main" id="{30D2577F-5F6D-4C2F-BD7D-B6CBA01A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一次提问，一次回答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shell-step-0">
            <a:extLst xmlns:a="http://schemas.openxmlformats.org/drawingml/2006/main">
              <a:ext uri="{FF2B5EF4-FFF2-40B4-BE49-F238E27FC236}">
                <a16:creationId xmlns:a16="http://schemas.microsoft.com/office/drawing/2014/main" id="{07C0560A-C2C7-4818-9456-C155AE53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990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用户提问</a:t>
            </a:r>
            <a:endParaRPr sz="1200" b="1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shell-arrow-0">
            <a:extLst xmlns:a="http://schemas.openxmlformats.org/drawingml/2006/main">
              <a:ext uri="{FF2B5EF4-FFF2-40B4-BE49-F238E27FC236}">
                <a16:creationId xmlns:a16="http://schemas.microsoft.com/office/drawing/2014/main" id="{5D1678F0-F1ED-43A1-AB58-665EF5FB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67100"/>
            <a:ext cx="133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ell-step-1">
            <a:extLst xmlns:a="http://schemas.openxmlformats.org/drawingml/2006/main">
              <a:ext uri="{FF2B5EF4-FFF2-40B4-BE49-F238E27FC236}">
                <a16:creationId xmlns:a16="http://schemas.microsoft.com/office/drawing/2014/main" id="{16728378-DDCF-486A-9947-7230D85D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57550"/>
            <a:ext cx="990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模型回答</a:t>
            </a:r>
            <a:endParaRPr sz="1200" b="1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shell-arrow-1">
            <a:extLst xmlns:a="http://schemas.openxmlformats.org/drawingml/2006/main">
              <a:ext uri="{FF2B5EF4-FFF2-40B4-BE49-F238E27FC236}">
                <a16:creationId xmlns:a16="http://schemas.microsoft.com/office/drawing/2014/main" id="{CDCA0396-2BD0-467E-95E3-F7B14C53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67100"/>
            <a:ext cx="133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ell-step-2">
            <a:extLst xmlns:a="http://schemas.openxmlformats.org/drawingml/2006/main">
              <a:ext uri="{FF2B5EF4-FFF2-40B4-BE49-F238E27FC236}">
                <a16:creationId xmlns:a16="http://schemas.microsoft.com/office/drawing/2014/main" id="{8AC6D635-BC49-42A2-BC47-B27D73F4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9906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再次等待</a:t>
            </a:r>
            <a:endParaRPr sz="1200" b="1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shell-note">
            <a:extLst xmlns:a="http://schemas.openxmlformats.org/drawingml/2006/main">
              <a:ext uri="{FF2B5EF4-FFF2-40B4-BE49-F238E27FC236}">
                <a16:creationId xmlns:a16="http://schemas.microsoft.com/office/drawing/2014/main" id="{B3EA44DB-9633-483E-8E20-95790CAF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流程结束于这一次回答，下一次仍要用户重新发起。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loop-bg">
            <a:extLst xmlns:a="http://schemas.openxmlformats.org/drawingml/2006/main">
              <a:ext uri="{FF2B5EF4-FFF2-40B4-BE49-F238E27FC236}">
                <a16:creationId xmlns:a16="http://schemas.microsoft.com/office/drawing/2014/main" id="{2865C6C6-645D-435A-B8A5-97680A74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57350"/>
            <a:ext cx="657225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loop-tag">
            <a:extLst xmlns:a="http://schemas.openxmlformats.org/drawingml/2006/main">
              <a:ext uri="{FF2B5EF4-FFF2-40B4-BE49-F238E27FC236}">
                <a16:creationId xmlns:a16="http://schemas.microsoft.com/office/drawing/2014/main" id="{54BFAD99-B378-43BF-9C9B-D96924F1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859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知学 Mate</a:t>
            </a:r>
            <a:endParaRPr sz="10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loop-step-0">
            <a:extLst xmlns:a="http://schemas.openxmlformats.org/drawingml/2006/main">
              <a:ext uri="{FF2B5EF4-FFF2-40B4-BE49-F238E27FC236}">
                <a16:creationId xmlns:a16="http://schemas.microsoft.com/office/drawing/2014/main" id="{31762E62-D94C-473D-AD2E-148D0108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718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诊断</a:t>
            </a:r>
            <a:endParaRPr sz="12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loop-arrow-0">
            <a:extLst xmlns:a="http://schemas.openxmlformats.org/drawingml/2006/main">
              <a:ext uri="{FF2B5EF4-FFF2-40B4-BE49-F238E27FC236}">
                <a16:creationId xmlns:a16="http://schemas.microsoft.com/office/drawing/2014/main" id="{A058C021-4C31-46F3-AA48-5E8D3C77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oop-step-1">
            <a:extLst xmlns:a="http://schemas.openxmlformats.org/drawingml/2006/main">
              <a:ext uri="{FF2B5EF4-FFF2-40B4-BE49-F238E27FC236}">
                <a16:creationId xmlns:a16="http://schemas.microsoft.com/office/drawing/2014/main" id="{12E3BF3E-7CBA-45EC-8C43-933AAA06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规划</a:t>
            </a:r>
            <a:endParaRPr sz="12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B7DFF68D-E9CF-40BB-882F-63D2D8A1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3375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step-2">
            <a:extLst xmlns:a="http://schemas.openxmlformats.org/drawingml/2006/main">
              <a:ext uri="{FF2B5EF4-FFF2-40B4-BE49-F238E27FC236}">
                <a16:creationId xmlns:a16="http://schemas.microsoft.com/office/drawing/2014/main" id="{E9252F01-B1F2-4C42-8D2E-3CAF5B55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练习</a:t>
            </a:r>
            <a:endParaRPr sz="12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DEA79114-C6C2-4174-B70F-C29844F8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3375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oop-step-3">
            <a:extLst xmlns:a="http://schemas.openxmlformats.org/drawingml/2006/main">
              <a:ext uri="{FF2B5EF4-FFF2-40B4-BE49-F238E27FC236}">
                <a16:creationId xmlns:a16="http://schemas.microsoft.com/office/drawing/2014/main" id="{85356341-951F-4AAA-B891-508E5E62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718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测评</a:t>
            </a:r>
            <a:endParaRPr sz="12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loop-arrow-3">
            <a:extLst xmlns:a="http://schemas.openxmlformats.org/drawingml/2006/main">
              <a:ext uri="{FF2B5EF4-FFF2-40B4-BE49-F238E27FC236}">
                <a16:creationId xmlns:a16="http://schemas.microsoft.com/office/drawing/2014/main" id="{5257D6AE-80B1-40F6-A2FE-7B8C2639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oop-step-4">
            <a:extLst xmlns:a="http://schemas.openxmlformats.org/drawingml/2006/main">
              <a:ext uri="{FF2B5EF4-FFF2-40B4-BE49-F238E27FC236}">
                <a16:creationId xmlns:a16="http://schemas.microsoft.com/office/drawing/2014/main" id="{4749EACB-1246-4F29-84E6-79512E62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718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重规划</a:t>
            </a:r>
            <a:endParaRPr sz="12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loop-return">
            <a:extLst xmlns:a="http://schemas.openxmlformats.org/drawingml/2006/main">
              <a:ext uri="{FF2B5EF4-FFF2-40B4-BE49-F238E27FC236}">
                <a16:creationId xmlns:a16="http://schemas.microsoft.com/office/drawing/2014/main" id="{1FBAB2B6-0438-4522-A188-0E858324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829300" y="428625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8" name="loop-return-arrow">
            <a:extLst xmlns:a="http://schemas.openxmlformats.org/drawingml/2006/main">
              <a:ext uri="{FF2B5EF4-FFF2-40B4-BE49-F238E27FC236}">
                <a16:creationId xmlns:a16="http://schemas.microsoft.com/office/drawing/2014/main" id="{5D529DE4-A859-4F4F-A059-4D34C81B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43375"/>
            <a:ext cx="2667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loop-note">
            <a:extLst xmlns:a="http://schemas.openxmlformats.org/drawingml/2006/main">
              <a:ext uri="{FF2B5EF4-FFF2-40B4-BE49-F238E27FC236}">
                <a16:creationId xmlns:a16="http://schemas.microsoft.com/office/drawing/2014/main" id="{1414C409-218C-4532-B60D-761AC35A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629150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结果进入下一轮推荐，计划随练习表现自动变化。</a:t>
            </a:r>
            <a:endParaRPr sz="1350" b="0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849522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46af5d0614de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1" name="accent-3">
            <a:extLst xmlns:a="http://schemas.openxmlformats.org/drawingml/2006/main">
              <a:ext uri="{FF2B5EF4-FFF2-40B4-BE49-F238E27FC236}">
                <a16:creationId xmlns:a16="http://schemas.microsoft.com/office/drawing/2014/main" id="{5CFFBD47-7792-4DC6-B702-92E73F35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84348FF-FBC9-45E9-949F-F8811E7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大学生学习的四个断层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6E1DBE15-DC2F-4A40-ADEB-D9C0E5E5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问题并不只在缺少内容，而在行动链没有接上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C27C0B7A-4F20-4C1D-B0DA-2997BA2C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E0681F62-EABA-4277-97A7-DFAE4AF7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7937F907-9561-4048-8C49-E10FBE0C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pain-bg-0">
            <a:extLst xmlns:a="http://schemas.openxmlformats.org/drawingml/2006/main">
              <a:ext uri="{FF2B5EF4-FFF2-40B4-BE49-F238E27FC236}">
                <a16:creationId xmlns:a16="http://schemas.microsoft.com/office/drawing/2014/main" id="{4CF87BCC-3112-484E-AD64-40919E14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1054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pain-index-0">
            <a:extLst xmlns:a="http://schemas.openxmlformats.org/drawingml/2006/main">
              <a:ext uri="{FF2B5EF4-FFF2-40B4-BE49-F238E27FC236}">
                <a16:creationId xmlns:a16="http://schemas.microsoft.com/office/drawing/2014/main" id="{9BB81E8F-2555-436D-AAF9-4F75F5AD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9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pain-title-0">
            <a:extLst xmlns:a="http://schemas.openxmlformats.org/drawingml/2006/main">
              <a:ext uri="{FF2B5EF4-FFF2-40B4-BE49-F238E27FC236}">
                <a16:creationId xmlns:a16="http://schemas.microsoft.com/office/drawing/2014/main" id="{693F0526-D2A3-4178-8508-38376CFF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不知道先做什么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pain-current-0">
            <a:extLst xmlns:a="http://schemas.openxmlformats.org/drawingml/2006/main">
              <a:ext uri="{FF2B5EF4-FFF2-40B4-BE49-F238E27FC236}">
                <a16:creationId xmlns:a16="http://schemas.microsoft.com/office/drawing/2014/main" id="{BADB2288-2695-4895-8837-D532E806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待办一堆，优先级靠感觉。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pain-divider-0">
            <a:extLst xmlns:a="http://schemas.openxmlformats.org/drawingml/2006/main">
              <a:ext uri="{FF2B5EF4-FFF2-40B4-BE49-F238E27FC236}">
                <a16:creationId xmlns:a16="http://schemas.microsoft.com/office/drawing/2014/main" id="{469CA908-E5E9-441D-A995-DC8FF427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648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9"/>
            </a:solidFill>
            <a:prstDash val="solid"/>
          </a:ln>
        </p:spPr>
      </p:sp>
      <p:sp>
        <p:nvSpPr>
          <p:cNvPr id="12" name="pain-response-0">
            <a:extLst xmlns:a="http://schemas.openxmlformats.org/drawingml/2006/main">
              <a:ext uri="{FF2B5EF4-FFF2-40B4-BE49-F238E27FC236}">
                <a16:creationId xmlns:a16="http://schemas.microsoft.com/office/drawing/2014/main" id="{C408084F-F651-4F8F-A55F-457E9841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五因子排序，给出可解释的“为什么是它”。</a:t>
            </a:r>
            <a:endParaRPr sz="12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pain-bg-1">
            <a:extLst xmlns:a="http://schemas.openxmlformats.org/drawingml/2006/main">
              <a:ext uri="{FF2B5EF4-FFF2-40B4-BE49-F238E27FC236}">
                <a16:creationId xmlns:a16="http://schemas.microsoft.com/office/drawing/2014/main" id="{89CE7CF7-0A2C-4749-A84D-75A2B4A8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1054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pain-index-1">
            <a:extLst xmlns:a="http://schemas.openxmlformats.org/drawingml/2006/main">
              <a:ext uri="{FF2B5EF4-FFF2-40B4-BE49-F238E27FC236}">
                <a16:creationId xmlns:a16="http://schemas.microsoft.com/office/drawing/2014/main" id="{E5932341-9931-452F-970F-73E800F0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9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pain-title-1">
            <a:extLst xmlns:a="http://schemas.openxmlformats.org/drawingml/2006/main">
              <a:ext uri="{FF2B5EF4-FFF2-40B4-BE49-F238E27FC236}">
                <a16:creationId xmlns:a16="http://schemas.microsoft.com/office/drawing/2014/main" id="{521B9989-1B52-4973-905C-054ABCFF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错题不沉淀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pain-current-1">
            <a:extLst xmlns:a="http://schemas.openxmlformats.org/drawingml/2006/main">
              <a:ext uri="{FF2B5EF4-FFF2-40B4-BE49-F238E27FC236}">
                <a16:creationId xmlns:a16="http://schemas.microsoft.com/office/drawing/2014/main" id="{B7494624-EF91-4536-A30B-D1A96E81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拍完照就留在相册，下次仍会再错。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pain-divider-1">
            <a:extLst xmlns:a="http://schemas.openxmlformats.org/drawingml/2006/main">
              <a:ext uri="{FF2B5EF4-FFF2-40B4-BE49-F238E27FC236}">
                <a16:creationId xmlns:a16="http://schemas.microsoft.com/office/drawing/2014/main" id="{E6967395-7DB3-4661-AF39-A63BC374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4648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9"/>
            </a:solidFill>
            <a:prstDash val="solid"/>
          </a:ln>
        </p:spPr>
      </p:sp>
      <p:sp>
        <p:nvSpPr>
          <p:cNvPr id="18" name="pain-response-1">
            <a:extLst xmlns:a="http://schemas.openxmlformats.org/drawingml/2006/main">
              <a:ext uri="{FF2B5EF4-FFF2-40B4-BE49-F238E27FC236}">
                <a16:creationId xmlns:a16="http://schemas.microsoft.com/office/drawing/2014/main" id="{3C08C3EC-4AE4-4C7E-B91D-22AA54FF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拍照识别，定位知识点并进入复习计划。</a:t>
            </a:r>
            <a:endParaRPr sz="12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pain-bg-2">
            <a:extLst xmlns:a="http://schemas.openxmlformats.org/drawingml/2006/main">
              <a:ext uri="{FF2B5EF4-FFF2-40B4-BE49-F238E27FC236}">
                <a16:creationId xmlns:a16="http://schemas.microsoft.com/office/drawing/2014/main" id="{53398570-C913-4F6C-B790-CE1A9AC4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054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pain-index-2">
            <a:extLst xmlns:a="http://schemas.openxmlformats.org/drawingml/2006/main">
              <a:ext uri="{FF2B5EF4-FFF2-40B4-BE49-F238E27FC236}">
                <a16:creationId xmlns:a16="http://schemas.microsoft.com/office/drawing/2014/main" id="{CD3E654D-5660-4F38-AA09-A8542BE2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9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pain-title-2">
            <a:extLst xmlns:a="http://schemas.openxmlformats.org/drawingml/2006/main">
              <a:ext uri="{FF2B5EF4-FFF2-40B4-BE49-F238E27FC236}">
                <a16:creationId xmlns:a16="http://schemas.microsoft.com/office/drawing/2014/main" id="{EFE333C5-0BC1-4DB6-AA32-48A69F39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计划不更新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pain-current-2">
            <a:extLst xmlns:a="http://schemas.openxmlformats.org/drawingml/2006/main">
              <a:ext uri="{FF2B5EF4-FFF2-40B4-BE49-F238E27FC236}">
                <a16:creationId xmlns:a16="http://schemas.microsoft.com/office/drawing/2014/main" id="{66BAA685-0AD4-41C0-B4B5-4BB2ABCB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做完计划就固定，练习结果不回流。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pain-divider-2">
            <a:extLst xmlns:a="http://schemas.openxmlformats.org/drawingml/2006/main">
              <a:ext uri="{FF2B5EF4-FFF2-40B4-BE49-F238E27FC236}">
                <a16:creationId xmlns:a16="http://schemas.microsoft.com/office/drawing/2014/main" id="{961686CA-B61D-4582-9203-C6058566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4648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9"/>
            </a:solidFill>
            <a:prstDash val="solid"/>
          </a:ln>
        </p:spPr>
      </p:sp>
      <p:sp>
        <p:nvSpPr>
          <p:cNvPr id="24" name="pain-response-2">
            <a:extLst xmlns:a="http://schemas.openxmlformats.org/drawingml/2006/main">
              <a:ext uri="{FF2B5EF4-FFF2-40B4-BE49-F238E27FC236}">
                <a16:creationId xmlns:a16="http://schemas.microsoft.com/office/drawing/2014/main" id="{041FA260-4859-45BB-999B-BBC47C09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练习结果驱动自动重规划，版本可追溯。</a:t>
            </a:r>
            <a:endParaRPr sz="12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pain-bg-3">
            <a:extLst xmlns:a="http://schemas.openxmlformats.org/drawingml/2006/main">
              <a:ext uri="{FF2B5EF4-FFF2-40B4-BE49-F238E27FC236}">
                <a16:creationId xmlns:a16="http://schemas.microsoft.com/office/drawing/2014/main" id="{AE1D6911-3E27-4B3D-8923-3EAF3EB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510540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pain-index-3">
            <a:extLst xmlns:a="http://schemas.openxmlformats.org/drawingml/2006/main">
              <a:ext uri="{FF2B5EF4-FFF2-40B4-BE49-F238E27FC236}">
                <a16:creationId xmlns:a16="http://schemas.microsoft.com/office/drawing/2014/main" id="{CC0478BD-5BBA-4D0B-A42A-1F845AB9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04</a:t>
            </a:r>
            <a:endParaRPr sz="19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pain-title-3">
            <a:extLst xmlns:a="http://schemas.openxmlformats.org/drawingml/2006/main">
              <a:ext uri="{FF2B5EF4-FFF2-40B4-BE49-F238E27FC236}">
                <a16:creationId xmlns:a16="http://schemas.microsoft.com/office/drawing/2014/main" id="{0A27E4F8-846C-4653-96C1-9D176C9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86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换设备断档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pain-current-3">
            <a:extLst xmlns:a="http://schemas.openxmlformats.org/drawingml/2006/main">
              <a:ext uri="{FF2B5EF4-FFF2-40B4-BE49-F238E27FC236}">
                <a16:creationId xmlns:a16="http://schemas.microsoft.com/office/drawing/2014/main" id="{1C272278-8291-42D3-9EEC-E7DB39FB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62450"/>
            <a:ext cx="464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手机学一半，换平板要重新找。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pain-divider-3">
            <a:extLst xmlns:a="http://schemas.openxmlformats.org/drawingml/2006/main">
              <a:ext uri="{FF2B5EF4-FFF2-40B4-BE49-F238E27FC236}">
                <a16:creationId xmlns:a16="http://schemas.microsoft.com/office/drawing/2014/main" id="{0F54153A-890D-46B5-A810-749C7B14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4648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9"/>
            </a:solidFill>
            <a:prstDash val="solid"/>
          </a:ln>
        </p:spPr>
      </p:sp>
      <p:sp>
        <p:nvSpPr>
          <p:cNvPr id="30" name="pain-response-3">
            <a:extLst xmlns:a="http://schemas.openxmlformats.org/drawingml/2006/main">
              <a:ext uri="{FF2B5EF4-FFF2-40B4-BE49-F238E27FC236}">
                <a16:creationId xmlns:a16="http://schemas.microsoft.com/office/drawing/2014/main" id="{8143BB1E-2855-43B6-A490-EC38F835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720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跨设备共享当前专注任务，接着做。</a:t>
            </a:r>
            <a:endParaRPr sz="12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876188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17decce0f4a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2" name="accent-4">
            <a:extLst xmlns:a="http://schemas.openxmlformats.org/drawingml/2006/main">
              <a:ext uri="{FF2B5EF4-FFF2-40B4-BE49-F238E27FC236}">
                <a16:creationId xmlns:a16="http://schemas.microsoft.com/office/drawing/2014/main" id="{0A8CAFEF-3285-4B29-93EC-2474E107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921A1BA-2813-4EF1-AF02-27D5E3C0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我们刻意不做的四件事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CE2A7F8C-BC77-4530-BDA0-5E12B36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产品边界先写清楚，能力不会被包装词放大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8587B80F-3AA0-4E50-B058-17381174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B0CA4EC5-09B8-4AC2-889A-3C594BDD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5E4F288D-4A02-4E22-8B31-F10CB139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04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no-index-0">
            <a:extLst xmlns:a="http://schemas.openxmlformats.org/drawingml/2006/main">
              <a:ext uri="{FF2B5EF4-FFF2-40B4-BE49-F238E27FC236}">
                <a16:creationId xmlns:a16="http://schemas.microsoft.com/office/drawing/2014/main" id="{2DDFBFDE-4E43-4BF9-9D28-3611D9EE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×</a:t>
            </a:r>
            <a:endParaRPr sz="270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no-title-0">
            <a:extLst xmlns:a="http://schemas.openxmlformats.org/drawingml/2006/main">
              <a:ext uri="{FF2B5EF4-FFF2-40B4-BE49-F238E27FC236}">
                <a16:creationId xmlns:a16="http://schemas.microsoft.com/office/drawing/2014/main" id="{A1BDE6BB-7B7E-4B9C-AA79-C179679D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764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不做问答壳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no-copy-0">
            <a:extLst xmlns:a="http://schemas.openxmlformats.org/drawingml/2006/main">
              <a:ext uri="{FF2B5EF4-FFF2-40B4-BE49-F238E27FC236}">
                <a16:creationId xmlns:a16="http://schemas.microsoft.com/office/drawing/2014/main" id="{4D8C0492-1FC1-40EC-ADCB-8B9F357D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43075"/>
            <a:ext cx="699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Agent 主动推动下一步，等待用户发起不是默认状态。</a:t>
            </a:r>
            <a:endParaRPr sz="15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no-divider-0">
            <a:extLst xmlns:a="http://schemas.openxmlformats.org/drawingml/2006/main">
              <a:ext uri="{FF2B5EF4-FFF2-40B4-BE49-F238E27FC236}">
                <a16:creationId xmlns:a16="http://schemas.microsoft.com/office/drawing/2014/main" id="{445423B7-E52B-4E20-8AD9-585C4B74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1051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1" name="no-index-1">
            <a:extLst xmlns:a="http://schemas.openxmlformats.org/drawingml/2006/main">
              <a:ext uri="{FF2B5EF4-FFF2-40B4-BE49-F238E27FC236}">
                <a16:creationId xmlns:a16="http://schemas.microsoft.com/office/drawing/2014/main" id="{D0E59FD3-492F-40AB-9D87-5B167573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×</a:t>
            </a:r>
            <a:endParaRPr sz="270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no-title-1">
            <a:extLst xmlns:a="http://schemas.openxmlformats.org/drawingml/2006/main">
              <a:ext uri="{FF2B5EF4-FFF2-40B4-BE49-F238E27FC236}">
                <a16:creationId xmlns:a16="http://schemas.microsoft.com/office/drawing/2014/main" id="{34A4D526-F440-42FC-B491-2CD41FC4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不做模型即真理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no-copy-1">
            <a:extLst xmlns:a="http://schemas.openxmlformats.org/drawingml/2006/main">
              <a:ext uri="{FF2B5EF4-FFF2-40B4-BE49-F238E27FC236}">
                <a16:creationId xmlns:a16="http://schemas.microsoft.com/office/drawing/2014/main" id="{3A0B224E-AC34-441F-95E5-36F4B61A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9875"/>
            <a:ext cx="699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模型只负责理解意图和生成语言，业务数值交给确定性代码。</a:t>
            </a:r>
            <a:endParaRPr sz="15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no-divider-1">
            <a:extLst xmlns:a="http://schemas.openxmlformats.org/drawingml/2006/main">
              <a:ext uri="{FF2B5EF4-FFF2-40B4-BE49-F238E27FC236}">
                <a16:creationId xmlns:a16="http://schemas.microsoft.com/office/drawing/2014/main" id="{43C7D6C1-C13D-43E8-A03C-24DEC80A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51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5" name="no-index-2">
            <a:extLst xmlns:a="http://schemas.openxmlformats.org/drawingml/2006/main">
              <a:ext uri="{FF2B5EF4-FFF2-40B4-BE49-F238E27FC236}">
                <a16:creationId xmlns:a16="http://schemas.microsoft.com/office/drawing/2014/main" id="{5DC90981-BBD0-414C-B290-66B13454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×</a:t>
            </a:r>
            <a:endParaRPr sz="270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no-title-2">
            <a:extLst xmlns:a="http://schemas.openxmlformats.org/drawingml/2006/main">
              <a:ext uri="{FF2B5EF4-FFF2-40B4-BE49-F238E27FC236}">
                <a16:creationId xmlns:a16="http://schemas.microsoft.com/office/drawing/2014/main" id="{68CFFF94-54DA-4688-B926-BD9613BF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不做假成功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no-copy-2">
            <a:extLst xmlns:a="http://schemas.openxmlformats.org/drawingml/2006/main">
              <a:ext uri="{FF2B5EF4-FFF2-40B4-BE49-F238E27FC236}">
                <a16:creationId xmlns:a16="http://schemas.microsoft.com/office/drawing/2014/main" id="{4B0C8A4F-6339-41BA-8B0B-BB177A0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76675"/>
            <a:ext cx="699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没有接入大模型时明确标注降级，不把规则输出伪装成模型输出。</a:t>
            </a:r>
            <a:endParaRPr sz="15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no-divider-2">
            <a:extLst xmlns:a="http://schemas.openxmlformats.org/drawingml/2006/main">
              <a:ext uri="{FF2B5EF4-FFF2-40B4-BE49-F238E27FC236}">
                <a16:creationId xmlns:a16="http://schemas.microsoft.com/office/drawing/2014/main" id="{9BD34B08-35C3-4ACB-8FAC-F5E767FE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10515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9" name="no-index-3">
            <a:extLst xmlns:a="http://schemas.openxmlformats.org/drawingml/2006/main">
              <a:ext uri="{FF2B5EF4-FFF2-40B4-BE49-F238E27FC236}">
                <a16:creationId xmlns:a16="http://schemas.microsoft.com/office/drawing/2014/main" id="{6E89AF1E-B2FC-41DB-AE2C-6BE6C4CC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7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×</a:t>
            </a:r>
            <a:endParaRPr sz="270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no-title-3">
            <a:extLst xmlns:a="http://schemas.openxmlformats.org/drawingml/2006/main">
              <a:ext uri="{FF2B5EF4-FFF2-40B4-BE49-F238E27FC236}">
                <a16:creationId xmlns:a16="http://schemas.microsoft.com/office/drawing/2014/main" id="{751C547C-86C1-4E68-8252-D5216328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不做无法追溯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no-copy-3">
            <a:extLst xmlns:a="http://schemas.openxmlformats.org/drawingml/2006/main">
              <a:ext uri="{FF2B5EF4-FFF2-40B4-BE49-F238E27FC236}">
                <a16:creationId xmlns:a16="http://schemas.microsoft.com/office/drawing/2014/main" id="{021EFCD1-AC0F-4BCF-AC65-0CA68A83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43475"/>
            <a:ext cx="699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记录决策与工具调用链，不记录模型思维链。</a:t>
            </a:r>
            <a:endParaRPr sz="15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16254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b6b8916744ba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3" name="accent-5">
            <a:extLst xmlns:a="http://schemas.openxmlformats.org/drawingml/2006/main">
              <a:ext uri="{FF2B5EF4-FFF2-40B4-BE49-F238E27FC236}">
                <a16:creationId xmlns:a16="http://schemas.microsoft.com/office/drawing/2014/main" id="{58F01F06-155B-4D28-9171-B587F2EF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1E8C126-7F80-4A42-B162-ECE343DF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产品全景：四个标签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5C861A3B-74F4-4042-A057-2F3C0F83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每个入口回答一个明确问题，截图展示产品的真实界面形态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10BF6E2D-690C-4537-A964-BC095E0C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E04F301B-776F-4D1F-8D33-325D3EF4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C9FAB778-E90C-4388-B488-61182264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05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tab-title-0">
            <a:extLst xmlns:a="http://schemas.openxmlformats.org/drawingml/2006/main">
              <a:ext uri="{FF2B5EF4-FFF2-40B4-BE49-F238E27FC236}">
                <a16:creationId xmlns:a16="http://schemas.microsoft.com/office/drawing/2014/main" id="{C5BB40E6-F173-4BFF-BB0D-2062A6F2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对话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tab-frame-0">
            <a:extLst xmlns:a="http://schemas.openxmlformats.org/drawingml/2006/main">
              <a:ext uri="{FF2B5EF4-FFF2-40B4-BE49-F238E27FC236}">
                <a16:creationId xmlns:a16="http://schemas.microsoft.com/office/drawing/2014/main" id="{5500FCB2-2B9D-4B04-AC96-B2B1F232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2476500" cy="34290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38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8f5d9ecc64c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639002"/>
            <a:ext cx="2171700" cy="2380095"/>
          </a:xfrm>
          <a:prstGeom xmlns:a="http://schemas.openxmlformats.org/drawingml/2006/main" prst="roundRect">
            <a:avLst>
              <a:gd name="adj" fmla="val 4386"/>
            </a:avLst>
          </a:prstGeom>
        </p:spPr>
      </p:pic>
      <p:sp>
        <p:nvSpPr>
          <p:cNvPr id="10" name="tab-copy-0">
            <a:extLst xmlns:a="http://schemas.openxmlformats.org/drawingml/2006/main">
              <a:ext uri="{FF2B5EF4-FFF2-40B4-BE49-F238E27FC236}">
                <a16:creationId xmlns:a16="http://schemas.microsoft.com/office/drawing/2014/main" id="{D66AED72-28CC-404C-9BA8-0B78FCDE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我直接说需求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tab-title-1">
            <a:extLst xmlns:a="http://schemas.openxmlformats.org/drawingml/2006/main">
              <a:ext uri="{FF2B5EF4-FFF2-40B4-BE49-F238E27FC236}">
                <a16:creationId xmlns:a16="http://schemas.microsoft.com/office/drawing/2014/main" id="{7FFEA63D-35AE-45B2-8791-DFE6042A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智能体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tab-frame-1">
            <a:extLst xmlns:a="http://schemas.openxmlformats.org/drawingml/2006/main">
              <a:ext uri="{FF2B5EF4-FFF2-40B4-BE49-F238E27FC236}">
                <a16:creationId xmlns:a16="http://schemas.microsoft.com/office/drawing/2014/main" id="{C9CBBAD4-D24D-46DC-9EF0-9D48772B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14550"/>
            <a:ext cx="2476500" cy="34290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2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0e5c1682845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628536"/>
            <a:ext cx="2171700" cy="2401027"/>
          </a:xfrm>
          <a:prstGeom xmlns:a="http://schemas.openxmlformats.org/drawingml/2006/main" prst="roundRect">
            <a:avLst>
              <a:gd name="adj" fmla="val 4386"/>
            </a:avLst>
          </a:prstGeom>
        </p:spPr>
      </p:pic>
      <p:sp>
        <p:nvSpPr>
          <p:cNvPr id="14" name="tab-copy-1">
            <a:extLst xmlns:a="http://schemas.openxmlformats.org/drawingml/2006/main">
              <a:ext uri="{FF2B5EF4-FFF2-40B4-BE49-F238E27FC236}">
                <a16:creationId xmlns:a16="http://schemas.microsoft.com/office/drawing/2014/main" id="{3943EE8F-494D-49C9-82F7-4CE28838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76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它替我做什么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tab-title-2">
            <a:extLst xmlns:a="http://schemas.openxmlformats.org/drawingml/2006/main">
              <a:ext uri="{FF2B5EF4-FFF2-40B4-BE49-F238E27FC236}">
                <a16:creationId xmlns:a16="http://schemas.microsoft.com/office/drawing/2014/main" id="{02CBABBC-3D1A-4D42-87A1-A9DBC187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学习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tab-frame-2">
            <a:extLst xmlns:a="http://schemas.openxmlformats.org/drawingml/2006/main">
              <a:ext uri="{FF2B5EF4-FFF2-40B4-BE49-F238E27FC236}">
                <a16:creationId xmlns:a16="http://schemas.microsoft.com/office/drawing/2014/main" id="{AB91A405-A37D-4C46-9692-50D50F82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2476500" cy="34290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46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3abe814854c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26072"/>
            <a:ext cx="2171700" cy="2405957"/>
          </a:xfrm>
          <a:prstGeom xmlns:a="http://schemas.openxmlformats.org/drawingml/2006/main" prst="roundRect">
            <a:avLst>
              <a:gd name="adj" fmla="val 4386"/>
            </a:avLst>
          </a:prstGeom>
        </p:spPr>
      </p:pic>
      <p:sp>
        <p:nvSpPr>
          <p:cNvPr id="18" name="tab-copy-2">
            <a:extLst xmlns:a="http://schemas.openxmlformats.org/drawingml/2006/main">
              <a:ext uri="{FF2B5EF4-FFF2-40B4-BE49-F238E27FC236}">
                <a16:creationId xmlns:a16="http://schemas.microsoft.com/office/drawing/2014/main" id="{0583426C-F1BA-4947-B69C-509AD8CD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76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我要处理什么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tab-title-3">
            <a:extLst xmlns:a="http://schemas.openxmlformats.org/drawingml/2006/main">
              <a:ext uri="{FF2B5EF4-FFF2-40B4-BE49-F238E27FC236}">
                <a16:creationId xmlns:a16="http://schemas.microsoft.com/office/drawing/2014/main" id="{6F06961B-A1BA-4D91-AA4A-422B50F4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我的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tab-frame-3">
            <a:extLst xmlns:a="http://schemas.openxmlformats.org/drawingml/2006/main">
              <a:ext uri="{FF2B5EF4-FFF2-40B4-BE49-F238E27FC236}">
                <a16:creationId xmlns:a16="http://schemas.microsoft.com/office/drawing/2014/main" id="{819539F7-823D-4BF8-9F3B-20961DDF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14550"/>
            <a:ext cx="2476500" cy="34290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50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5710880c36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2628244"/>
            <a:ext cx="2171700" cy="2401612"/>
          </a:xfrm>
          <a:prstGeom xmlns:a="http://schemas.openxmlformats.org/drawingml/2006/main" prst="roundRect">
            <a:avLst>
              <a:gd name="adj" fmla="val 4386"/>
            </a:avLst>
          </a:prstGeom>
        </p:spPr>
      </p:pic>
      <p:sp>
        <p:nvSpPr>
          <p:cNvPr id="22" name="tab-copy-3">
            <a:extLst xmlns:a="http://schemas.openxmlformats.org/drawingml/2006/main">
              <a:ext uri="{FF2B5EF4-FFF2-40B4-BE49-F238E27FC236}">
                <a16:creationId xmlns:a16="http://schemas.microsoft.com/office/drawing/2014/main" id="{30835759-CAF7-44C7-8356-26CB4EBC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我学得怎么样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34537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72e362e5640b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4" name="accent-6">
            <a:extLst xmlns:a="http://schemas.openxmlformats.org/drawingml/2006/main">
              <a:ext uri="{FF2B5EF4-FFF2-40B4-BE49-F238E27FC236}">
                <a16:creationId xmlns:a16="http://schemas.microsoft.com/office/drawing/2014/main" id="{604A9CD4-0E41-4979-90ED-D175D7D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B570E0C-406F-4F52-80DE-16CA497C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五个智能体，各司其职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BCE1B25F-D77C-46A3-B740-7419BF23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五个 Agent 属于认知职能分工，编排由确定性状态机完成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16DF05F4-9F09-4006-B371-63DAD278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3704999C-38AC-4B6C-A057-5209AD9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D3529033-D35C-4354-8E4D-E0A7CD7F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06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agent-card-0">
            <a:extLst xmlns:a="http://schemas.openxmlformats.org/drawingml/2006/main">
              <a:ext uri="{FF2B5EF4-FFF2-40B4-BE49-F238E27FC236}">
                <a16:creationId xmlns:a16="http://schemas.microsoft.com/office/drawing/2014/main" id="{64088B9B-9643-429C-B7D4-F9E254FF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533650" cy="16383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agent-dot-0">
            <a:extLst xmlns:a="http://schemas.openxmlformats.org/drawingml/2006/main">
              <a:ext uri="{FF2B5EF4-FFF2-40B4-BE49-F238E27FC236}">
                <a16:creationId xmlns:a16="http://schemas.microsoft.com/office/drawing/2014/main" id="{F4834A51-1446-4B6C-AECD-B4E013BA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  <a:endParaRPr sz="112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agent-name-0">
            <a:extLst xmlns:a="http://schemas.openxmlformats.org/drawingml/2006/main">
              <a:ext uri="{FF2B5EF4-FFF2-40B4-BE49-F238E27FC236}">
                <a16:creationId xmlns:a16="http://schemas.microsoft.com/office/drawing/2014/main" id="{942C6E2A-8CFC-4492-9517-D689F3E7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诊断智能体</a:t>
            </a:r>
            <a:endParaRPr sz="15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agent-role-0">
            <a:extLst xmlns:a="http://schemas.openxmlformats.org/drawingml/2006/main">
              <a:ext uri="{FF2B5EF4-FFF2-40B4-BE49-F238E27FC236}">
                <a16:creationId xmlns:a16="http://schemas.microsoft.com/office/drawing/2014/main" id="{E4F08509-5FA0-4619-901C-7B30E3D5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定位薄弱点与错误根因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agent-entry-0">
            <a:extLst xmlns:a="http://schemas.openxmlformats.org/drawingml/2006/main">
              <a:ext uri="{FF2B5EF4-FFF2-40B4-BE49-F238E27FC236}">
                <a16:creationId xmlns:a16="http://schemas.microsoft.com/office/drawing/2014/main" id="{88B8CB13-36AD-4A0C-BA6B-C924C648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错题诊断 · 学情画像</a:t>
            </a:r>
            <a:endParaRPr sz="9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agent-card-1">
            <a:extLst xmlns:a="http://schemas.openxmlformats.org/drawingml/2006/main">
              <a:ext uri="{FF2B5EF4-FFF2-40B4-BE49-F238E27FC236}">
                <a16:creationId xmlns:a16="http://schemas.microsoft.com/office/drawing/2014/main" id="{299C284A-0347-4B3B-BA94-76AC3D0C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76400"/>
            <a:ext cx="2533650" cy="16383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agent-dot-1">
            <a:extLst xmlns:a="http://schemas.openxmlformats.org/drawingml/2006/main">
              <a:ext uri="{FF2B5EF4-FFF2-40B4-BE49-F238E27FC236}">
                <a16:creationId xmlns:a16="http://schemas.microsoft.com/office/drawing/2014/main" id="{4A264BB9-9CD2-4FC4-BC1F-7CDC55C0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</a:t>
            </a:r>
            <a:endParaRPr sz="112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agent-name-1">
            <a:extLst xmlns:a="http://schemas.openxmlformats.org/drawingml/2006/main">
              <a:ext uri="{FF2B5EF4-FFF2-40B4-BE49-F238E27FC236}">
                <a16:creationId xmlns:a16="http://schemas.microsoft.com/office/drawing/2014/main" id="{94F87F01-8102-4D42-A7B5-7310F7AE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85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规划智能体</a:t>
            </a:r>
            <a:endParaRPr sz="15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agent-role-1">
            <a:extLst xmlns:a="http://schemas.openxmlformats.org/drawingml/2006/main">
              <a:ext uri="{FF2B5EF4-FFF2-40B4-BE49-F238E27FC236}">
                <a16:creationId xmlns:a16="http://schemas.microsoft.com/office/drawing/2014/main" id="{554CDB81-BAB1-46BA-A1E6-602AA47F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193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决定先学什么、排多长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agent-entry-1">
            <a:extLst xmlns:a="http://schemas.openxmlformats.org/drawingml/2006/main">
              <a:ext uri="{FF2B5EF4-FFF2-40B4-BE49-F238E27FC236}">
                <a16:creationId xmlns:a16="http://schemas.microsoft.com/office/drawing/2014/main" id="{6B7CA13F-1139-4D59-B836-0D2386B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52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今日建议 · Agent 计划</a:t>
            </a:r>
            <a:endParaRPr sz="9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agent-card-2">
            <a:extLst xmlns:a="http://schemas.openxmlformats.org/drawingml/2006/main">
              <a:ext uri="{FF2B5EF4-FFF2-40B4-BE49-F238E27FC236}">
                <a16:creationId xmlns:a16="http://schemas.microsoft.com/office/drawing/2014/main" id="{25B3D7DA-40C9-4CF2-8681-01930689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76400"/>
            <a:ext cx="2533650" cy="16383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agent-dot-2">
            <a:extLst xmlns:a="http://schemas.openxmlformats.org/drawingml/2006/main">
              <a:ext uri="{FF2B5EF4-FFF2-40B4-BE49-F238E27FC236}">
                <a16:creationId xmlns:a16="http://schemas.microsoft.com/office/drawing/2014/main" id="{DFA80F07-5527-42C8-9C7C-AF5DB846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</a:t>
            </a:r>
            <a:endParaRPr sz="112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agent-name-2">
            <a:extLst xmlns:a="http://schemas.openxmlformats.org/drawingml/2006/main">
              <a:ext uri="{FF2B5EF4-FFF2-40B4-BE49-F238E27FC236}">
                <a16:creationId xmlns:a16="http://schemas.microsoft.com/office/drawing/2014/main" id="{E96B997A-9402-4B73-A944-1BB1199E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85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练习智能体</a:t>
            </a:r>
            <a:endParaRPr sz="15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agent-role-2">
            <a:extLst xmlns:a="http://schemas.openxmlformats.org/drawingml/2006/main">
              <a:ext uri="{FF2B5EF4-FFF2-40B4-BE49-F238E27FC236}">
                <a16:creationId xmlns:a16="http://schemas.microsoft.com/office/drawing/2014/main" id="{4F294168-B622-4E2B-9318-F92538A9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推送针对性练习并判分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agent-entry-2">
            <a:extLst xmlns:a="http://schemas.openxmlformats.org/drawingml/2006/main">
              <a:ext uri="{FF2B5EF4-FFF2-40B4-BE49-F238E27FC236}">
                <a16:creationId xmlns:a16="http://schemas.microsoft.com/office/drawing/2014/main" id="{DA825406-08E6-4B83-93D6-CD335C34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52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专项练习</a:t>
            </a:r>
            <a:endParaRPr sz="9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agent-card-3">
            <a:extLst xmlns:a="http://schemas.openxmlformats.org/drawingml/2006/main">
              <a:ext uri="{FF2B5EF4-FFF2-40B4-BE49-F238E27FC236}">
                <a16:creationId xmlns:a16="http://schemas.microsoft.com/office/drawing/2014/main" id="{08CC01EB-B7EF-4799-907A-F16A8DEA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533650" cy="1638300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agent-dot-3">
            <a:extLst xmlns:a="http://schemas.openxmlformats.org/drawingml/2006/main">
              <a:ext uri="{FF2B5EF4-FFF2-40B4-BE49-F238E27FC236}">
                <a16:creationId xmlns:a16="http://schemas.microsoft.com/office/drawing/2014/main" id="{85BCFE7C-C7AD-4F20-A0B6-CA18DAF6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85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112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agent-name-3">
            <a:extLst xmlns:a="http://schemas.openxmlformats.org/drawingml/2006/main">
              <a:ext uri="{FF2B5EF4-FFF2-40B4-BE49-F238E27FC236}">
                <a16:creationId xmlns:a16="http://schemas.microsoft.com/office/drawing/2014/main" id="{29EF9655-0660-432F-9F4B-9EAAB10F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测评智能体</a:t>
            </a:r>
            <a:endParaRPr sz="15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agent-role-3">
            <a:extLst xmlns:a="http://schemas.openxmlformats.org/drawingml/2006/main">
              <a:ext uri="{FF2B5EF4-FFF2-40B4-BE49-F238E27FC236}">
                <a16:creationId xmlns:a16="http://schemas.microsoft.com/office/drawing/2014/main" id="{47107D6B-F8B9-4247-A304-1074976F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验证学习是否有效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agent-entry-3">
            <a:extLst xmlns:a="http://schemas.openxmlformats.org/drawingml/2006/main">
              <a:ext uri="{FF2B5EF4-FFF2-40B4-BE49-F238E27FC236}">
                <a16:creationId xmlns:a16="http://schemas.microsoft.com/office/drawing/2014/main" id="{B8EBA4D2-2D59-428B-B9B5-386138F9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学习复盘</a:t>
            </a:r>
            <a:endParaRPr sz="9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secretary-card">
            <a:extLst xmlns:a="http://schemas.openxmlformats.org/drawingml/2006/main">
              <a:ext uri="{FF2B5EF4-FFF2-40B4-BE49-F238E27FC236}">
                <a16:creationId xmlns:a16="http://schemas.microsoft.com/office/drawing/2014/main" id="{DFEF2E73-D1E4-445F-A3E5-6EBEB85C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6819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ecretary-title">
            <a:extLst xmlns:a="http://schemas.openxmlformats.org/drawingml/2006/main">
              <a:ext uri="{FF2B5EF4-FFF2-40B4-BE49-F238E27FC236}">
                <a16:creationId xmlns:a16="http://schemas.microsoft.com/office/drawing/2014/main" id="{456DEAA5-5632-4B19-BBE4-7FC2D4F3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71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秘书智能体 · 总控编排</a:t>
            </a:r>
            <a:endParaRPr sz="202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secretary-copy">
            <a:extLst xmlns:a="http://schemas.openxmlformats.org/drawingml/2006/main">
              <a:ext uri="{FF2B5EF4-FFF2-40B4-BE49-F238E27FC236}">
                <a16:creationId xmlns:a16="http://schemas.microsoft.com/office/drawing/2014/main" id="{D7E6A299-A93E-4415-A17C-2C7CECE9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3219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BEAF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DBEAFE"/>
                </a:solidFill>
                <a:latin typeface="Noto Sans SC"/>
                <a:ea typeface="Noto Sans SC"/>
                <a:cs typeface="Noto Sans SC"/>
              </a:rPr>
              <a:t>判断下一步该叫哪个智能体，编排由确定性状态机负责。</a:t>
            </a:r>
            <a:endParaRPr sz="1350" b="0">
              <a:solidFill>
                <a:srgbClr val="DBEAFE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969548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c6e0c2a18452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5" name="accent-7">
            <a:extLst xmlns:a="http://schemas.openxmlformats.org/drawingml/2006/main">
              <a:ext uri="{FF2B5EF4-FFF2-40B4-BE49-F238E27FC236}">
                <a16:creationId xmlns:a16="http://schemas.microsoft.com/office/drawing/2014/main" id="{7BE95AAD-560B-4B43-90CB-08181E40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EC0F3C7-E6CF-4CE5-A458-9BCB4C7F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一次完整闭环的 12 步演示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E92FD37C-B7F6-4668-9C10-AFB0817A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固定演示账号 demo-user，固定答案 A / B / A，关键数值可复现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7DF2D12A-68B7-4ECF-8575-20638323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CFBC170E-429D-4FA9-960B-CC718146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A2EB846D-B2FD-42FB-86A1-9CFD01C9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07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timeline-line-0">
            <a:extLst xmlns:a="http://schemas.openxmlformats.org/drawingml/2006/main">
              <a:ext uri="{FF2B5EF4-FFF2-40B4-BE49-F238E27FC236}">
                <a16:creationId xmlns:a16="http://schemas.microsoft.com/office/drawing/2014/main" id="{0052B2BD-37B1-4B43-9E0A-EC24F619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032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FDBFE"/>
            </a:solidFill>
            <a:prstDash val="solid"/>
          </a:ln>
        </p:spPr>
      </p:sp>
      <p:sp>
        <p:nvSpPr>
          <p:cNvPr id="8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F1E6BAB9-B377-46EA-B31B-ED90EB26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86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31F93DA9-A8B4-4FC5-B2AA-9FEDC4D7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7177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启动 App</a:t>
            </a:r>
            <a:endParaRPr sz="12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6FB9D036-3B77-47CA-91AF-408BAE9D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C839AD4A-F94B-49AD-BF3F-DAB39E2C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7177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跳过登录</a:t>
            </a:r>
            <a:endParaRPr sz="12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82E88B8F-EF9E-4111-BC58-ED947BE1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86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6E100146-9E44-4E1F-89F9-C1A2C982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7177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今日建议</a:t>
            </a:r>
            <a:endParaRPr sz="12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38221849-9121-46F2-AFEF-DBEEEBC2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86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A633345F-6F25-4CF7-B9F7-DC058843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7177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因子解释</a:t>
            </a:r>
            <a:endParaRPr sz="12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CEFADD19-FDEA-4EBE-BC3B-236BBFC8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5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timeline-label-4">
            <a:extLst xmlns:a="http://schemas.openxmlformats.org/drawingml/2006/main">
              <a:ext uri="{FF2B5EF4-FFF2-40B4-BE49-F238E27FC236}">
                <a16:creationId xmlns:a16="http://schemas.microsoft.com/office/drawing/2014/main" id="{D44255D8-3964-4E24-A8FB-D9A1BD3F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7177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开始专注</a:t>
            </a:r>
            <a:endParaRPr sz="12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timeline-dot-5">
            <a:extLst xmlns:a="http://schemas.openxmlformats.org/drawingml/2006/main">
              <a:ext uri="{FF2B5EF4-FFF2-40B4-BE49-F238E27FC236}">
                <a16:creationId xmlns:a16="http://schemas.microsoft.com/office/drawing/2014/main" id="{4713AA5E-F988-477D-8316-D184D985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286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6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timeline-label-5">
            <a:extLst xmlns:a="http://schemas.openxmlformats.org/drawingml/2006/main">
              <a:ext uri="{FF2B5EF4-FFF2-40B4-BE49-F238E27FC236}">
                <a16:creationId xmlns:a16="http://schemas.microsoft.com/office/drawing/2014/main" id="{D73DD44C-AB50-4C68-87D9-2CB33E1D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7177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错题诊断</a:t>
            </a:r>
            <a:endParaRPr sz="12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timeline-line-1">
            <a:extLst xmlns:a="http://schemas.openxmlformats.org/drawingml/2006/main">
              <a:ext uri="{FF2B5EF4-FFF2-40B4-BE49-F238E27FC236}">
                <a16:creationId xmlns:a16="http://schemas.microsoft.com/office/drawing/2014/main" id="{93CA02EF-243A-48B4-AB60-CE50FE90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1032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EAFE"/>
            </a:solidFill>
            <a:prstDash val="solid"/>
          </a:ln>
        </p:spPr>
      </p:sp>
      <p:sp>
        <p:nvSpPr>
          <p:cNvPr id="21" name="timeline-dot-6">
            <a:extLst xmlns:a="http://schemas.openxmlformats.org/drawingml/2006/main">
              <a:ext uri="{FF2B5EF4-FFF2-40B4-BE49-F238E27FC236}">
                <a16:creationId xmlns:a16="http://schemas.microsoft.com/office/drawing/2014/main" id="{2177A950-82B4-4590-B924-C74E48F8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7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imeline-label-6">
            <a:extLst xmlns:a="http://schemas.openxmlformats.org/drawingml/2006/main">
              <a:ext uri="{FF2B5EF4-FFF2-40B4-BE49-F238E27FC236}">
                <a16:creationId xmlns:a16="http://schemas.microsoft.com/office/drawing/2014/main" id="{6C620056-484D-410F-AE2F-2BA9F45A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3 道同类题</a:t>
            </a:r>
            <a:endParaRPr sz="12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timeline-dot-7">
            <a:extLst xmlns:a="http://schemas.openxmlformats.org/drawingml/2006/main">
              <a:ext uri="{FF2B5EF4-FFF2-40B4-BE49-F238E27FC236}">
                <a16:creationId xmlns:a16="http://schemas.microsoft.com/office/drawing/2014/main" id="{3C77D317-52D6-4087-8ADE-15F032EA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8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timeline-label-7">
            <a:extLst xmlns:a="http://schemas.openxmlformats.org/drawingml/2006/main">
              <a:ext uri="{FF2B5EF4-FFF2-40B4-BE49-F238E27FC236}">
                <a16:creationId xmlns:a16="http://schemas.microsoft.com/office/drawing/2014/main" id="{F0DE5262-B6B7-4982-98A6-53E92A59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5292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提交 A/B/A</a:t>
            </a:r>
            <a:endParaRPr sz="120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timeline-dot-8">
            <a:extLst xmlns:a="http://schemas.openxmlformats.org/drawingml/2006/main">
              <a:ext uri="{FF2B5EF4-FFF2-40B4-BE49-F238E27FC236}">
                <a16:creationId xmlns:a16="http://schemas.microsoft.com/office/drawing/2014/main" id="{23BE3A08-5F0F-4EDC-B763-E23A06C6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67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9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timeline-label-8">
            <a:extLst xmlns:a="http://schemas.openxmlformats.org/drawingml/2006/main">
              <a:ext uri="{FF2B5EF4-FFF2-40B4-BE49-F238E27FC236}">
                <a16:creationId xmlns:a16="http://schemas.microsoft.com/office/drawing/2014/main" id="{25B00F27-5C3A-4706-BAD2-3A72C8BA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5292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判分 66.67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timeline-dot-9">
            <a:extLst xmlns:a="http://schemas.openxmlformats.org/drawingml/2006/main">
              <a:ext uri="{FF2B5EF4-FFF2-40B4-BE49-F238E27FC236}">
                <a16:creationId xmlns:a16="http://schemas.microsoft.com/office/drawing/2014/main" id="{2EC5300A-4817-4B90-B3C0-303669CE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67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10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timeline-label-9">
            <a:extLst xmlns:a="http://schemas.openxmlformats.org/drawingml/2006/main">
              <a:ext uri="{FF2B5EF4-FFF2-40B4-BE49-F238E27FC236}">
                <a16:creationId xmlns:a16="http://schemas.microsoft.com/office/drawing/2014/main" id="{437B7ED8-3886-4217-AF41-722E95C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5292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掌握度 42 到 58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timeline-dot-10">
            <a:extLst xmlns:a="http://schemas.openxmlformats.org/drawingml/2006/main">
              <a:ext uri="{FF2B5EF4-FFF2-40B4-BE49-F238E27FC236}">
                <a16:creationId xmlns:a16="http://schemas.microsoft.com/office/drawing/2014/main" id="{E99F6929-78D6-4DB2-A634-9F834BD8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67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11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timeline-label-10">
            <a:extLst xmlns:a="http://schemas.openxmlformats.org/drawingml/2006/main">
              <a:ext uri="{FF2B5EF4-FFF2-40B4-BE49-F238E27FC236}">
                <a16:creationId xmlns:a16="http://schemas.microsoft.com/office/drawing/2014/main" id="{F6110C9A-5CE2-4625-8AAA-EFDDA12B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5292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计划 V1 到 V2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timeline-dot-11">
            <a:extLst xmlns:a="http://schemas.openxmlformats.org/drawingml/2006/main">
              <a:ext uri="{FF2B5EF4-FFF2-40B4-BE49-F238E27FC236}">
                <a16:creationId xmlns:a16="http://schemas.microsoft.com/office/drawing/2014/main" id="{5296E49A-630F-4D95-AE4D-67A6A3A3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867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12</a:t>
            </a:r>
            <a:endParaRPr sz="9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timeline-label-11">
            <a:extLst xmlns:a="http://schemas.openxmlformats.org/drawingml/2006/main">
              <a:ext uri="{FF2B5EF4-FFF2-40B4-BE49-F238E27FC236}">
                <a16:creationId xmlns:a16="http://schemas.microsoft.com/office/drawing/2014/main" id="{CB1F0445-FFB2-4349-8088-178303F5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52925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决策链留痕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timeline-result">
            <a:extLst xmlns:a="http://schemas.openxmlformats.org/drawingml/2006/main">
              <a:ext uri="{FF2B5EF4-FFF2-40B4-BE49-F238E27FC236}">
                <a16:creationId xmlns:a16="http://schemas.microsoft.com/office/drawing/2014/main" id="{3B3CA89C-8770-4EAD-877C-1CE97FDC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76900"/>
            <a:ext cx="6477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34" name="timeline-result-copy">
            <a:extLst xmlns:a="http://schemas.openxmlformats.org/drawingml/2006/main">
              <a:ext uri="{FF2B5EF4-FFF2-40B4-BE49-F238E27FC236}">
                <a16:creationId xmlns:a16="http://schemas.microsoft.com/office/drawing/2014/main" id="{A716B1A6-D52D-430B-8AF1-7B720BAF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810250"/>
            <a:ext cx="601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判分和掌握度变化会继续触发下一轮规划。</a:t>
            </a:r>
            <a:endParaRPr sz="12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7772588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326e419164b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accent-8">
            <a:extLst xmlns:a="http://schemas.openxmlformats.org/drawingml/2006/main">
              <a:ext uri="{FF2B5EF4-FFF2-40B4-BE49-F238E27FC236}">
                <a16:creationId xmlns:a16="http://schemas.microsoft.com/office/drawing/2014/main" id="{6617504B-E679-4AA6-8091-4F118B96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F6DD1D8-0D7E-4D65-AC1B-7EE47288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亮点一：今日最该学的一件事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A1A810AC-D55C-41D7-9669-2C2997B2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五因子排序可展开，每个因子都给出原始值、权重和贡献分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21EEE048-BDFE-43A7-A438-DEA39549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3BCDDD34-CC41-4A60-A84B-B6F87DBB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57151779-A25F-47B0-A687-0A699AE2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08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priority-conclusion">
            <a:extLst xmlns:a="http://schemas.openxmlformats.org/drawingml/2006/main">
              <a:ext uri="{FF2B5EF4-FFF2-40B4-BE49-F238E27FC236}">
                <a16:creationId xmlns:a16="http://schemas.microsoft.com/office/drawing/2014/main" id="{FDEAA152-B799-4910-9A6A-53DA9E68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推荐结果能解释，不依赖黑盒感觉。</a:t>
            </a:r>
            <a:endParaRPr sz="16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priority-image-frame">
            <a:extLst xmlns:a="http://schemas.openxmlformats.org/drawingml/2006/main">
              <a:ext uri="{FF2B5EF4-FFF2-40B4-BE49-F238E27FC236}">
                <a16:creationId xmlns:a16="http://schemas.microsoft.com/office/drawing/2014/main" id="{ABA95DDA-3373-4CC3-B6FF-94470F93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4648200" cy="3930015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graphicFrame>
        <p:nvGraphicFramePr>
          <p:cNvPr id="26" name="priority-weight-chart"/>
          <p:cNvGraphicFramePr/>
          <p:nvPr/>
        </p:nvGraphicFramePr>
        <p:xfrm>
          <a:off xmlns:a="http://schemas.openxmlformats.org/drawingml/2006/main" x="5905500" y="2038350"/>
          <a:ext xmlns:a="http://schemas.openxmlformats.org/drawingml/2006/main" cx="533400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247ba9ddd14c32"/>
          </a:graphicData>
        </a:graphic>
      </p:graphicFrame>
      <p:sp>
        <p:nvSpPr>
          <p:cNvPr id="11" name="priority-note">
            <a:extLst xmlns:a="http://schemas.openxmlformats.org/drawingml/2006/main">
              <a:ext uri="{FF2B5EF4-FFF2-40B4-BE49-F238E27FC236}">
                <a16:creationId xmlns:a16="http://schemas.microsoft.com/office/drawing/2014/main" id="{6896FF57-827B-47B7-AC90-F8A246F3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5334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ority-note-copy">
            <a:extLst xmlns:a="http://schemas.openxmlformats.org/drawingml/2006/main">
              <a:ext uri="{FF2B5EF4-FFF2-40B4-BE49-F238E27FC236}">
                <a16:creationId xmlns:a16="http://schemas.microsoft.com/office/drawing/2014/main" id="{CACA2F3C-7C90-41C1-B4DD-D0F50D40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6260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五因子权重：30% / 25% / 20% / 15% / 10%</a:t>
            </a:r>
            <a:endParaRPr sz="12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8705a2a9c47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7760" y="2132965"/>
            <a:ext cx="3434080" cy="37979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65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e1355e8324ec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3" name="accent-9">
            <a:extLst xmlns:a="http://schemas.openxmlformats.org/drawingml/2006/main">
              <a:ext uri="{FF2B5EF4-FFF2-40B4-BE49-F238E27FC236}">
                <a16:creationId xmlns:a16="http://schemas.microsoft.com/office/drawing/2014/main" id="{F8217D1B-F84A-42A2-9FFA-5EB4D8AA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4DF7595-1E45-42E7-96CE-817DF1E5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亮点二：拍一道错题，定位到知识点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C54E3F71-76CD-4EDC-8277-6FAD1EF6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真实调用 Qwen-VL 多模态模型，不依赖演示 Mock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6F9BC1BF-10BA-49E9-B6C7-D84BEFA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E8248AD8-F494-4705-8DCF-70203890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D529CC5A-EF1C-4FE5-B6E7-02E22A8C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09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wrong-image-bg">
            <a:extLst xmlns:a="http://schemas.openxmlformats.org/drawingml/2006/main">
              <a:ext uri="{FF2B5EF4-FFF2-40B4-BE49-F238E27FC236}">
                <a16:creationId xmlns:a16="http://schemas.microsoft.com/office/drawing/2014/main" id="{33208DF4-5BF1-492B-9D97-5827BAD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4972050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34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cd28d01964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406" y="1847850"/>
            <a:ext cx="4332339" cy="2686050"/>
          </a:xfrm>
          <a:prstGeom xmlns:a="http://schemas.openxmlformats.org/drawingml/2006/main" prst="roundRect">
            <a:avLst>
              <a:gd name="adj" fmla="val 3546"/>
            </a:avLst>
          </a:prstGeom>
        </p:spPr>
      </p:pic>
      <p:sp>
        <p:nvSpPr>
          <p:cNvPr id="9" name="wrong-caption">
            <a:extLst xmlns:a="http://schemas.openxmlformats.org/drawingml/2006/main">
              <a:ext uri="{FF2B5EF4-FFF2-40B4-BE49-F238E27FC236}">
                <a16:creationId xmlns:a16="http://schemas.microsoft.com/office/drawing/2014/main" id="{25CBC4A3-D222-4CD3-9AAD-D734DE62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59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示例：哈希表冲突相关错题</a:t>
            </a:r>
            <a:endParaRPr sz="10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diagnosis-arrow">
            <a:extLst xmlns:a="http://schemas.openxmlformats.org/drawingml/2006/main">
              <a:ext uri="{FF2B5EF4-FFF2-40B4-BE49-F238E27FC236}">
                <a16:creationId xmlns:a16="http://schemas.microsoft.com/office/drawing/2014/main" id="{C05A93DC-60EA-4263-B25E-54B1E74B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52750"/>
            <a:ext cx="7239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agnosis-result-bg">
            <a:extLst xmlns:a="http://schemas.openxmlformats.org/drawingml/2006/main">
              <a:ext uri="{FF2B5EF4-FFF2-40B4-BE49-F238E27FC236}">
                <a16:creationId xmlns:a16="http://schemas.microsoft.com/office/drawing/2014/main" id="{9D37BD40-C73B-4948-A7C6-A78F586F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57350"/>
            <a:ext cx="5048250" cy="3886200"/>
          </a:xfrm>
          <a:prstGeom xmlns:a="http://schemas.openxmlformats.org/drawingml/2006/main" prst="roundRect">
            <a:avLst>
              <a:gd name="adj" fmla="val 2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diagnosis-kicker">
            <a:extLst xmlns:a="http://schemas.openxmlformats.org/drawingml/2006/main">
              <a:ext uri="{FF2B5EF4-FFF2-40B4-BE49-F238E27FC236}">
                <a16:creationId xmlns:a16="http://schemas.microsoft.com/office/drawing/2014/main" id="{5BFFB0B6-9F36-4980-A406-2BEFF8BE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模型返回 3 类结构化结果</a:t>
            </a:r>
            <a:endParaRPr sz="15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diag-label-0">
            <a:extLst xmlns:a="http://schemas.openxmlformats.org/drawingml/2006/main">
              <a:ext uri="{FF2B5EF4-FFF2-40B4-BE49-F238E27FC236}">
                <a16:creationId xmlns:a16="http://schemas.microsoft.com/office/drawing/2014/main" id="{7C0F742C-1273-4D44-B5E3-4595B654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336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知识点</a:t>
            </a:r>
            <a:endParaRPr sz="12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diag-value-0">
            <a:extLst xmlns:a="http://schemas.openxmlformats.org/drawingml/2006/main">
              <a:ext uri="{FF2B5EF4-FFF2-40B4-BE49-F238E27FC236}">
                <a16:creationId xmlns:a16="http://schemas.microsoft.com/office/drawing/2014/main" id="{3BA103DE-F8E2-4A60-9D14-5ACAC13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14600"/>
            <a:ext cx="3371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哈希表</a:t>
            </a:r>
            <a:endParaRPr sz="1800" b="1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diag-line-0">
            <a:extLst xmlns:a="http://schemas.openxmlformats.org/drawingml/2006/main">
              <a:ext uri="{FF2B5EF4-FFF2-40B4-BE49-F238E27FC236}">
                <a16:creationId xmlns:a16="http://schemas.microsoft.com/office/drawing/2014/main" id="{1778E1CD-A3ED-4A4C-968D-448C20AF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436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6" name="diag-label-1">
            <a:extLst xmlns:a="http://schemas.openxmlformats.org/drawingml/2006/main">
              <a:ext uri="{FF2B5EF4-FFF2-40B4-BE49-F238E27FC236}">
                <a16:creationId xmlns:a16="http://schemas.microsoft.com/office/drawing/2014/main" id="{9244630D-2AEE-4549-83B0-E6C85A9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错误类型</a:t>
            </a:r>
            <a:endParaRPr sz="12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diag-value-1">
            <a:extLst xmlns:a="http://schemas.openxmlformats.org/drawingml/2006/main">
              <a:ext uri="{FF2B5EF4-FFF2-40B4-BE49-F238E27FC236}">
                <a16:creationId xmlns:a16="http://schemas.microsoft.com/office/drawing/2014/main" id="{25D6C532-C140-449B-8C6E-BB66E3B2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371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概念混淆</a:t>
            </a:r>
            <a:endParaRPr sz="1800" b="1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diag-line-1">
            <a:extLst xmlns:a="http://schemas.openxmlformats.org/drawingml/2006/main">
              <a:ext uri="{FF2B5EF4-FFF2-40B4-BE49-F238E27FC236}">
                <a16:creationId xmlns:a16="http://schemas.microsoft.com/office/drawing/2014/main" id="{E7540A46-D569-4172-ABBC-8372C88D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0000"/>
            <a:ext cx="4362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9" name="diag-label-2">
            <a:extLst xmlns:a="http://schemas.openxmlformats.org/drawingml/2006/main">
              <a:ext uri="{FF2B5EF4-FFF2-40B4-BE49-F238E27FC236}">
                <a16:creationId xmlns:a16="http://schemas.microsoft.com/office/drawing/2014/main" id="{A81A4160-2D86-4D3E-9201-3A3EA06A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576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补强建议</a:t>
            </a:r>
            <a:endParaRPr sz="12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diag-value-2">
            <a:extLst xmlns:a="http://schemas.openxmlformats.org/drawingml/2006/main">
              <a:ext uri="{FF2B5EF4-FFF2-40B4-BE49-F238E27FC236}">
                <a16:creationId xmlns:a16="http://schemas.microsoft.com/office/drawing/2014/main" id="{CE251555-FEEE-4EED-B9F7-BFBC58A2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3371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复习冲突处理，对比开放寻址，完成练习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diagnosis-time">
            <a:extLst xmlns:a="http://schemas.openxmlformats.org/drawingml/2006/main">
              <a:ext uri="{FF2B5EF4-FFF2-40B4-BE49-F238E27FC236}">
                <a16:creationId xmlns:a16="http://schemas.microsoft.com/office/drawing/2014/main" id="{D68B86C4-715B-493B-A1C6-651BEE70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20955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4.7 s · 真实模型调用</a:t>
            </a:r>
            <a:endParaRPr sz="11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diagnosis-foot">
            <a:extLst xmlns:a="http://schemas.openxmlformats.org/drawingml/2006/main">
              <a:ext uri="{FF2B5EF4-FFF2-40B4-BE49-F238E27FC236}">
                <a16:creationId xmlns:a16="http://schemas.microsoft.com/office/drawing/2014/main" id="{0E557147-4FE8-440F-927C-1B8F7335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577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题库没有该知识点时，系统会现场生成 3 道针对“哈希表”的新题。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7750807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450ebe573946f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1" name="accent-10">
            <a:extLst xmlns:a="http://schemas.openxmlformats.org/drawingml/2006/main">
              <a:ext uri="{FF2B5EF4-FFF2-40B4-BE49-F238E27FC236}">
                <a16:creationId xmlns:a16="http://schemas.microsoft.com/office/drawing/2014/main" id="{B651CE78-B503-4B1B-8FC8-B5316D5C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AA14670-84DA-45AE-BFDB-2CC5BC30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亮点三：做完题，判分与掌握度当场变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7425D8E8-CFC9-4A0B-9A0A-F325185E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判分由算式完成，模型不参与数值计算；同一份答案得到同一个分数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BDBB9332-CC1E-4D61-A139-2B9B95BA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3BE515CE-67FB-45A1-B5D7-03A2F133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7E736D34-3D2F-4410-91EF-E7E8BDCD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10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score-node-0">
            <a:extLst xmlns:a="http://schemas.openxmlformats.org/drawingml/2006/main">
              <a:ext uri="{FF2B5EF4-FFF2-40B4-BE49-F238E27FC236}">
                <a16:creationId xmlns:a16="http://schemas.microsoft.com/office/drawing/2014/main" id="{8A78BE1D-E6E1-41AE-9BAA-E80C02B1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score-step-0">
            <a:extLst xmlns:a="http://schemas.openxmlformats.org/drawingml/2006/main">
              <a:ext uri="{FF2B5EF4-FFF2-40B4-BE49-F238E27FC236}">
                <a16:creationId xmlns:a16="http://schemas.microsoft.com/office/drawing/2014/main" id="{C80C6505-0E28-4102-A44A-9DF68AD0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答案 A / B / A</a:t>
            </a:r>
            <a:endParaRPr sz="15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score-value-0">
            <a:extLst xmlns:a="http://schemas.openxmlformats.org/drawingml/2006/main">
              <a:ext uri="{FF2B5EF4-FFF2-40B4-BE49-F238E27FC236}">
                <a16:creationId xmlns:a16="http://schemas.microsoft.com/office/drawing/2014/main" id="{10F753DC-F7F6-4B36-AA41-764EFB2F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2 对 1 错</a:t>
            </a:r>
            <a:endParaRPr sz="12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score-arrow-0">
            <a:extLst xmlns:a="http://schemas.openxmlformats.org/drawingml/2006/main">
              <a:ext uri="{FF2B5EF4-FFF2-40B4-BE49-F238E27FC236}">
                <a16:creationId xmlns:a16="http://schemas.microsoft.com/office/drawing/2014/main" id="{574FF79E-3328-4363-A3A6-87466D76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ore-node-1">
            <a:extLst xmlns:a="http://schemas.openxmlformats.org/drawingml/2006/main">
              <a:ext uri="{FF2B5EF4-FFF2-40B4-BE49-F238E27FC236}">
                <a16:creationId xmlns:a16="http://schemas.microsoft.com/office/drawing/2014/main" id="{D9238B89-790D-4320-96AB-FF529913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6690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score-step-1">
            <a:extLst xmlns:a="http://schemas.openxmlformats.org/drawingml/2006/main">
              <a:ext uri="{FF2B5EF4-FFF2-40B4-BE49-F238E27FC236}">
                <a16:creationId xmlns:a16="http://schemas.microsoft.com/office/drawing/2014/main" id="{1A0AD5F7-6306-4EB7-B113-BF947CE1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grade_exercise</a:t>
            </a:r>
            <a:endParaRPr sz="15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score-value-1">
            <a:extLst xmlns:a="http://schemas.openxmlformats.org/drawingml/2006/main">
              <a:ext uri="{FF2B5EF4-FFF2-40B4-BE49-F238E27FC236}">
                <a16:creationId xmlns:a16="http://schemas.microsoft.com/office/drawing/2014/main" id="{8611C484-F9C2-4DA6-9D97-07E2E706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得分 66.67</a:t>
            </a:r>
            <a:endParaRPr sz="12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score-arrow-1">
            <a:extLst xmlns:a="http://schemas.openxmlformats.org/drawingml/2006/main">
              <a:ext uri="{FF2B5EF4-FFF2-40B4-BE49-F238E27FC236}">
                <a16:creationId xmlns:a16="http://schemas.microsoft.com/office/drawing/2014/main" id="{5A52841D-2663-4981-BC7C-54C80B99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ore-node-2">
            <a:extLst xmlns:a="http://schemas.openxmlformats.org/drawingml/2006/main">
              <a:ext uri="{FF2B5EF4-FFF2-40B4-BE49-F238E27FC236}">
                <a16:creationId xmlns:a16="http://schemas.microsoft.com/office/drawing/2014/main" id="{4A1BDBEC-87AE-4142-91BE-6B5BF0FB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score-step-2">
            <a:extLst xmlns:a="http://schemas.openxmlformats.org/drawingml/2006/main">
              <a:ext uri="{FF2B5EF4-FFF2-40B4-BE49-F238E27FC236}">
                <a16:creationId xmlns:a16="http://schemas.microsoft.com/office/drawing/2014/main" id="{32F9610A-A305-4A2B-A430-9E7BF4F0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update_mastery</a:t>
            </a:r>
            <a:endParaRPr sz="15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score-value-2">
            <a:extLst xmlns:a="http://schemas.openxmlformats.org/drawingml/2006/main">
              <a:ext uri="{FF2B5EF4-FFF2-40B4-BE49-F238E27FC236}">
                <a16:creationId xmlns:a16="http://schemas.microsoft.com/office/drawing/2014/main" id="{FCFAAFA3-0EE1-4A53-957B-5AA5BA5F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掌握度 +16</a:t>
            </a:r>
            <a:endParaRPr sz="12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score-arrow-2">
            <a:extLst xmlns:a="http://schemas.openxmlformats.org/drawingml/2006/main">
              <a:ext uri="{FF2B5EF4-FFF2-40B4-BE49-F238E27FC236}">
                <a16:creationId xmlns:a16="http://schemas.microsoft.com/office/drawing/2014/main" id="{5A5FE52A-83F9-49F2-803E-72B6EA2E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0"/>
            <a:ext cx="3048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ore-node-3">
            <a:extLst xmlns:a="http://schemas.openxmlformats.org/drawingml/2006/main">
              <a:ext uri="{FF2B5EF4-FFF2-40B4-BE49-F238E27FC236}">
                <a16:creationId xmlns:a16="http://schemas.microsoft.com/office/drawing/2014/main" id="{07E552F7-F27A-4B12-9409-EDEFCA90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324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9525">
            <a:solidFill>
              <a:srgbClr val="1F3A5F"/>
            </a:solidFill>
            <a:prstDash val="solid"/>
          </a:ln>
        </p:spPr>
      </p:sp>
      <p:sp>
        <p:nvSpPr>
          <p:cNvPr id="20" name="score-step-3">
            <a:extLst xmlns:a="http://schemas.openxmlformats.org/drawingml/2006/main">
              <a:ext uri="{FF2B5EF4-FFF2-40B4-BE49-F238E27FC236}">
                <a16:creationId xmlns:a16="http://schemas.microsoft.com/office/drawing/2014/main" id="{4B4DC021-B8DA-48B4-8798-DCCECEA0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764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新掌握度</a:t>
            </a:r>
            <a:endParaRPr sz="15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score-value-3">
            <a:extLst xmlns:a="http://schemas.openxmlformats.org/drawingml/2006/main">
              <a:ext uri="{FF2B5EF4-FFF2-40B4-BE49-F238E27FC236}">
                <a16:creationId xmlns:a16="http://schemas.microsoft.com/office/drawing/2014/main" id="{742828F6-4386-4956-9CDB-6D2A1BAD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BFDBF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BFDBFE"/>
                </a:solidFill>
                <a:latin typeface="Noto Sans SC"/>
                <a:ea typeface="Noto Sans SC"/>
                <a:cs typeface="Noto Sans SC"/>
              </a:rPr>
              <a:t>42 到 58</a:t>
            </a:r>
            <a:endParaRPr sz="1275" b="0">
              <a:solidFill>
                <a:srgbClr val="BFDBF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score66-bg">
            <a:extLst xmlns:a="http://schemas.openxmlformats.org/drawingml/2006/main">
              <a:ext uri="{FF2B5EF4-FFF2-40B4-BE49-F238E27FC236}">
                <a16:creationId xmlns:a16="http://schemas.microsoft.com/office/drawing/2014/main" id="{7B10244F-267B-4C7C-AA5B-14EF668A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306705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" name="score66-value">
            <a:extLst xmlns:a="http://schemas.openxmlformats.org/drawingml/2006/main">
              <a:ext uri="{FF2B5EF4-FFF2-40B4-BE49-F238E27FC236}">
                <a16:creationId xmlns:a16="http://schemas.microsoft.com/office/drawing/2014/main" id="{082757E9-462E-4EE5-95FB-0C1C9939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66.67</a:t>
            </a:r>
            <a:endParaRPr sz="390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score66-label">
            <a:extLst xmlns:a="http://schemas.openxmlformats.org/drawingml/2006/main">
              <a:ext uri="{FF2B5EF4-FFF2-40B4-BE49-F238E27FC236}">
                <a16:creationId xmlns:a16="http://schemas.microsoft.com/office/drawing/2014/main" id="{E2600415-035C-44E8-83AB-EEA54AB7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3 题得分（2 对 1 错）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mastery58-bg">
            <a:extLst xmlns:a="http://schemas.openxmlformats.org/drawingml/2006/main">
              <a:ext uri="{FF2B5EF4-FFF2-40B4-BE49-F238E27FC236}">
                <a16:creationId xmlns:a16="http://schemas.microsoft.com/office/drawing/2014/main" id="{7DDC66D8-B0D2-47A1-900D-13E4A687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29050"/>
            <a:ext cx="306705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mastery58-value">
            <a:extLst xmlns:a="http://schemas.openxmlformats.org/drawingml/2006/main">
              <a:ext uri="{FF2B5EF4-FFF2-40B4-BE49-F238E27FC236}">
                <a16:creationId xmlns:a16="http://schemas.microsoft.com/office/drawing/2014/main" id="{2425AF22-9681-4B5A-99F3-C182DC1B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433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42 到 58</a:t>
            </a:r>
            <a:endParaRPr sz="33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mastery58-label">
            <a:extLst xmlns:a="http://schemas.openxmlformats.org/drawingml/2006/main">
              <a:ext uri="{FF2B5EF4-FFF2-40B4-BE49-F238E27FC236}">
                <a16:creationId xmlns:a16="http://schemas.microsoft.com/office/drawing/2014/main" id="{575CF3F6-7B43-44D3-A6E6-0E240CF4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9530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掌握度更新：+16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repeat-bg">
            <a:extLst xmlns:a="http://schemas.openxmlformats.org/drawingml/2006/main">
              <a:ext uri="{FF2B5EF4-FFF2-40B4-BE49-F238E27FC236}">
                <a16:creationId xmlns:a16="http://schemas.microsoft.com/office/drawing/2014/main" id="{23332224-8A89-4504-A2E1-5264ED7A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06705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repeat-value">
            <a:extLst xmlns:a="http://schemas.openxmlformats.org/drawingml/2006/main">
              <a:ext uri="{FF2B5EF4-FFF2-40B4-BE49-F238E27FC236}">
                <a16:creationId xmlns:a16="http://schemas.microsoft.com/office/drawing/2014/main" id="{3E5CDC5B-9706-44A3-AE81-819404D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433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每次都相同</a:t>
            </a:r>
            <a:endParaRPr sz="22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repeat-label">
            <a:extLst xmlns:a="http://schemas.openxmlformats.org/drawingml/2006/main">
              <a:ext uri="{FF2B5EF4-FFF2-40B4-BE49-F238E27FC236}">
                <a16:creationId xmlns:a16="http://schemas.microsoft.com/office/drawing/2014/main" id="{2F3C4778-BFC4-4721-B90A-4FA9F985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确定性代码保证可复现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3793424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f2fc67ad544b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0" name="accent-11">
            <a:extLst xmlns:a="http://schemas.openxmlformats.org/drawingml/2006/main">
              <a:ext uri="{FF2B5EF4-FFF2-40B4-BE49-F238E27FC236}">
                <a16:creationId xmlns:a16="http://schemas.microsoft.com/office/drawing/2014/main" id="{E9B26B0C-1172-4371-969F-7181AEC2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A139C94F-6219-4D04-965C-BCE3A2A7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亮点四：计划自己会改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47F5DEE3-D541-4977-9175-0293300C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练习结果触发重规划，版本差异可查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59968CBA-831F-45FD-A603-38CD3D21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B9D5800D-7EE0-4333-9F9D-E1733563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11">
            <a:extLst xmlns:a="http://schemas.openxmlformats.org/drawingml/2006/main">
              <a:ext uri="{FF2B5EF4-FFF2-40B4-BE49-F238E27FC236}">
                <a16:creationId xmlns:a16="http://schemas.microsoft.com/office/drawing/2014/main" id="{7278D76D-5419-4BAF-948F-C894FA18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11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plan-v1">
            <a:extLst xmlns:a="http://schemas.openxmlformats.org/drawingml/2006/main">
              <a:ext uri="{FF2B5EF4-FFF2-40B4-BE49-F238E27FC236}">
                <a16:creationId xmlns:a16="http://schemas.microsoft.com/office/drawing/2014/main" id="{546477BC-6DC1-4151-9B92-56FBC47F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09575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plan-v2">
            <a:extLst xmlns:a="http://schemas.openxmlformats.org/drawingml/2006/main">
              <a:ext uri="{FF2B5EF4-FFF2-40B4-BE49-F238E27FC236}">
                <a16:creationId xmlns:a16="http://schemas.microsoft.com/office/drawing/2014/main" id="{9528BBA3-44C1-4418-BB66-A6817A67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09750"/>
            <a:ext cx="4095750" cy="35433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plan-v1-tag">
            <a:extLst xmlns:a="http://schemas.openxmlformats.org/drawingml/2006/main">
              <a:ext uri="{FF2B5EF4-FFF2-40B4-BE49-F238E27FC236}">
                <a16:creationId xmlns:a16="http://schemas.microsoft.com/office/drawing/2014/main" id="{A94269E4-B20D-485B-8339-D5F00B5B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628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V1</a:t>
            </a:r>
            <a:endParaRPr sz="10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plan-v2-tag">
            <a:extLst xmlns:a="http://schemas.openxmlformats.org/drawingml/2006/main">
              <a:ext uri="{FF2B5EF4-FFF2-40B4-BE49-F238E27FC236}">
                <a16:creationId xmlns:a16="http://schemas.microsoft.com/office/drawing/2014/main" id="{F403C622-1CC6-4DEC-A351-3F522078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57400"/>
            <a:ext cx="6286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V2</a:t>
            </a:r>
            <a:endParaRPr sz="10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plan-v1-title">
            <a:extLst xmlns:a="http://schemas.openxmlformats.org/drawingml/2006/main">
              <a:ext uri="{FF2B5EF4-FFF2-40B4-BE49-F238E27FC236}">
                <a16:creationId xmlns:a16="http://schemas.microsoft.com/office/drawing/2014/main" id="{B6AE43A6-F8D4-4E09-91C4-5EA3E1EF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后序遍历 30 min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plan-v1-second">
            <a:extLst xmlns:a="http://schemas.openxmlformats.org/drawingml/2006/main">
              <a:ext uri="{FF2B5EF4-FFF2-40B4-BE49-F238E27FC236}">
                <a16:creationId xmlns:a16="http://schemas.microsoft.com/office/drawing/2014/main" id="{674F436B-EDEE-4877-9D83-C524698C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图算法 30 min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plan-v2-title">
            <a:extLst xmlns:a="http://schemas.openxmlformats.org/drawingml/2006/main">
              <a:ext uri="{FF2B5EF4-FFF2-40B4-BE49-F238E27FC236}">
                <a16:creationId xmlns:a16="http://schemas.microsoft.com/office/drawing/2014/main" id="{F59361C7-3BBF-4502-BBE8-DF90F71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后序遍历 45 min</a:t>
            </a:r>
            <a:endParaRPr sz="210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plan-v2-second">
            <a:extLst xmlns:a="http://schemas.openxmlformats.org/drawingml/2006/main">
              <a:ext uri="{FF2B5EF4-FFF2-40B4-BE49-F238E27FC236}">
                <a16:creationId xmlns:a16="http://schemas.microsoft.com/office/drawing/2014/main" id="{5B300417-5253-44BC-A708-0680900E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957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图算法 15 min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plan-v1-note">
            <a:extLst xmlns:a="http://schemas.openxmlformats.org/drawingml/2006/main">
              <a:ext uri="{FF2B5EF4-FFF2-40B4-BE49-F238E27FC236}">
                <a16:creationId xmlns:a16="http://schemas.microsoft.com/office/drawing/2014/main" id="{1725B836-4911-4781-BA05-DB9ABDAD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原计划：薄弱点与一般知识点等量分配。</a:t>
            </a:r>
            <a:endParaRPr sz="120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plan-v2-note">
            <a:extLst xmlns:a="http://schemas.openxmlformats.org/drawingml/2006/main">
              <a:ext uri="{FF2B5EF4-FFF2-40B4-BE49-F238E27FC236}">
                <a16:creationId xmlns:a16="http://schemas.microsoft.com/office/drawing/2014/main" id="{0ABB74BF-161A-4B9F-B286-660268E5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482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新计划：后序遍历时间拉长，图算法压缩。</a:t>
            </a:r>
            <a:endParaRPr sz="120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plan-arrow">
            <a:extLst xmlns:a="http://schemas.openxmlformats.org/drawingml/2006/main">
              <a:ext uri="{FF2B5EF4-FFF2-40B4-BE49-F238E27FC236}">
                <a16:creationId xmlns:a16="http://schemas.microsoft.com/office/drawing/2014/main" id="{2ABF98D7-5B9A-489C-84EE-96B00D30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19050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lan-arrow-copy">
            <a:extLst xmlns:a="http://schemas.openxmlformats.org/drawingml/2006/main">
              <a:ext uri="{FF2B5EF4-FFF2-40B4-BE49-F238E27FC236}">
                <a16:creationId xmlns:a16="http://schemas.microsoft.com/office/drawing/2014/main" id="{D968C9F0-14BA-4F84-8666-8F1BF78E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147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需要重规划</a:t>
            </a:r>
            <a:endParaRPr sz="14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plan-version">
            <a:extLst xmlns:a="http://schemas.openxmlformats.org/drawingml/2006/main">
              <a:ext uri="{FF2B5EF4-FFF2-40B4-BE49-F238E27FC236}">
                <a16:creationId xmlns:a16="http://schemas.microsoft.com/office/drawing/2014/main" id="{ABAE74E4-A2D3-4750-9ABE-13B507FC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578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planVersion [1, 2] · 任务时长 [30, 30] 调整为 [45, 15]</a:t>
            </a:r>
            <a:endParaRPr sz="142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967633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4aed5f14e4d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1" name="accent-12">
            <a:extLst xmlns:a="http://schemas.openxmlformats.org/drawingml/2006/main">
              <a:ext uri="{FF2B5EF4-FFF2-40B4-BE49-F238E27FC236}">
                <a16:creationId xmlns:a16="http://schemas.microsoft.com/office/drawing/2014/main" id="{482A4895-5812-43CF-8EC4-B488237E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72347BD3-8CDF-475D-B78B-52DE99FA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亮点五：专注与全场景接续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4122B5B6-5D4D-44C8-AE7D-06017F45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手机开始，平板接着做；同一个分布式会话保持当前任务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527E6ADA-6111-4FD1-B560-CCDF5CFD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AE82FA77-FF56-4DE3-8547-C0550D19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12">
            <a:extLst xmlns:a="http://schemas.openxmlformats.org/drawingml/2006/main">
              <a:ext uri="{FF2B5EF4-FFF2-40B4-BE49-F238E27FC236}">
                <a16:creationId xmlns:a16="http://schemas.microsoft.com/office/drawing/2014/main" id="{F6D4503E-512C-4148-9B3E-C500E1EE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12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phone-device">
            <a:extLst xmlns:a="http://schemas.openxmlformats.org/drawingml/2006/main">
              <a:ext uri="{FF2B5EF4-FFF2-40B4-BE49-F238E27FC236}">
                <a16:creationId xmlns:a16="http://schemas.microsoft.com/office/drawing/2014/main" id="{592C9DFD-7488-4385-A3BD-579B4307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09750"/>
            <a:ext cx="2381250" cy="35623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F3A5F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6">
            <a:srgbClr val="FFFFFF"/>
          </a:effectRef>
          <a:fontRef xmlns:a="http://schemas.openxmlformats.org/drawingml/2006/main" idx="major"/>
        </p:style>
      </p:sp>
      <p:sp>
        <p:nvSpPr>
          <p:cNvPr id="8" name="phone-screen">
            <a:extLst xmlns:a="http://schemas.openxmlformats.org/drawingml/2006/main">
              <a:ext uri="{FF2B5EF4-FFF2-40B4-BE49-F238E27FC236}">
                <a16:creationId xmlns:a16="http://schemas.microsoft.com/office/drawing/2014/main" id="{8CC4949D-F6A1-4889-A7D0-92A1D56B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95500"/>
            <a:ext cx="2000250" cy="29908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hone-label">
            <a:extLst xmlns:a="http://schemas.openxmlformats.org/drawingml/2006/main">
              <a:ext uri="{FF2B5EF4-FFF2-40B4-BE49-F238E27FC236}">
                <a16:creationId xmlns:a16="http://schemas.microsoft.com/office/drawing/2014/main" id="{41A2B6AC-7AF7-4AA3-A19D-C84FEE53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38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手机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phone-task">
            <a:extLst xmlns:a="http://schemas.openxmlformats.org/drawingml/2006/main">
              <a:ext uri="{FF2B5EF4-FFF2-40B4-BE49-F238E27FC236}">
                <a16:creationId xmlns:a16="http://schemas.microsoft.com/office/drawing/2014/main" id="{54D6C013-B10B-4DFC-8DC9-72E6D2DD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146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本次要完成的</a:t>
            </a:r>
            <a:endParaRPr sz="18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一件事</a:t>
            </a:r>
            <a:endParaRPr sz="18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phone-timer">
            <a:extLst xmlns:a="http://schemas.openxmlformats.org/drawingml/2006/main">
              <a:ext uri="{FF2B5EF4-FFF2-40B4-BE49-F238E27FC236}">
                <a16:creationId xmlns:a16="http://schemas.microsoft.com/office/drawing/2014/main" id="{01B01382-146E-4A7C-80F4-A627575E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2425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25:00</a:t>
            </a:r>
            <a:endParaRPr sz="22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tablet-device">
            <a:extLst xmlns:a="http://schemas.openxmlformats.org/drawingml/2006/main">
              <a:ext uri="{FF2B5EF4-FFF2-40B4-BE49-F238E27FC236}">
                <a16:creationId xmlns:a16="http://schemas.microsoft.com/office/drawing/2014/main" id="{2EF08D2A-FE48-4BCC-8423-036107AC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24050"/>
            <a:ext cx="371475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F3A5F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6">
            <a:srgbClr val="FFFFFF"/>
          </a:effectRef>
          <a:fontRef xmlns:a="http://schemas.openxmlformats.org/drawingml/2006/main" idx="major"/>
        </p:style>
      </p:sp>
      <p:sp>
        <p:nvSpPr>
          <p:cNvPr id="13" name="tablet-screen">
            <a:extLst xmlns:a="http://schemas.openxmlformats.org/drawingml/2006/main">
              <a:ext uri="{FF2B5EF4-FFF2-40B4-BE49-F238E27FC236}">
                <a16:creationId xmlns:a16="http://schemas.microsoft.com/office/drawing/2014/main" id="{6FA9292C-692B-49B8-A99B-33ABBD31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52650"/>
            <a:ext cx="3295650" cy="2647950"/>
          </a:xfrm>
          <a:prstGeom xmlns:a="http://schemas.openxmlformats.org/drawingml/2006/main" prst="roundRect">
            <a:avLst>
              <a:gd name="adj" fmla="val 503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t-tag">
            <a:extLst xmlns:a="http://schemas.openxmlformats.org/drawingml/2006/main">
              <a:ext uri="{FF2B5EF4-FFF2-40B4-BE49-F238E27FC236}">
                <a16:creationId xmlns:a16="http://schemas.microsoft.com/office/drawing/2014/main" id="{E84DE30B-D4AC-431A-9DB4-7F533657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1143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接着做</a:t>
            </a:r>
            <a:endParaRPr sz="13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tablet-task">
            <a:extLst xmlns:a="http://schemas.openxmlformats.org/drawingml/2006/main">
              <a:ext uri="{FF2B5EF4-FFF2-40B4-BE49-F238E27FC236}">
                <a16:creationId xmlns:a16="http://schemas.microsoft.com/office/drawing/2014/main" id="{9D0C7D49-CF89-4A0D-8DE2-9132B690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2419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二叉树后序遍历</a:t>
            </a:r>
            <a:endParaRPr sz="19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剩余 18:42</a:t>
            </a:r>
            <a:endParaRPr sz="19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tablet-label">
            <a:extLst xmlns:a="http://schemas.openxmlformats.org/drawingml/2006/main">
              <a:ext uri="{FF2B5EF4-FFF2-40B4-BE49-F238E27FC236}">
                <a16:creationId xmlns:a16="http://schemas.microsoft.com/office/drawing/2014/main" id="{2394E14E-ED91-4266-BE9D-E146CC67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8160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平板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continuity-line">
            <a:extLst xmlns:a="http://schemas.openxmlformats.org/drawingml/2006/main">
              <a:ext uri="{FF2B5EF4-FFF2-40B4-BE49-F238E27FC236}">
                <a16:creationId xmlns:a16="http://schemas.microsoft.com/office/drawing/2014/main" id="{D865B0C9-615E-488C-A8D3-36330FC8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38600" y="3143250"/>
            <a:ext cx="28384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dash"/>
          </a:ln>
        </p:spPr>
      </p:sp>
      <p:sp>
        <p:nvSpPr>
          <p:cNvPr id="18" name="continuity-dot">
            <a:extLst xmlns:a="http://schemas.openxmlformats.org/drawingml/2006/main">
              <a:ext uri="{FF2B5EF4-FFF2-40B4-BE49-F238E27FC236}">
                <a16:creationId xmlns:a16="http://schemas.microsoft.com/office/drawing/2014/main" id="{C1676254-2756-46D2-BA4B-9832835A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ntinuity-session">
            <a:extLst xmlns:a="http://schemas.openxmlformats.org/drawingml/2006/main">
              <a:ext uri="{FF2B5EF4-FFF2-40B4-BE49-F238E27FC236}">
                <a16:creationId xmlns:a16="http://schemas.microsoft.com/office/drawing/2014/main" id="{5DF133A8-C040-44E5-986E-ED440F1F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05400"/>
            <a:ext cx="483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zhixue_mate_study_continuity_v1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continuity-note">
            <a:extLst xmlns:a="http://schemas.openxmlformats.org/drawingml/2006/main">
              <a:ext uri="{FF2B5EF4-FFF2-40B4-BE49-F238E27FC236}">
                <a16:creationId xmlns:a16="http://schemas.microsoft.com/office/drawing/2014/main" id="{029556B9-6594-4C72-BCAF-024C17E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007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双端实测建立同一个分布式会话，当前专注任务跨设备接续。</a:t>
            </a:r>
            <a:endParaRPr sz="12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8233609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8abe0685f496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7" name="accent-13">
            <a:extLst xmlns:a="http://schemas.openxmlformats.org/drawingml/2006/main">
              <a:ext uri="{FF2B5EF4-FFF2-40B4-BE49-F238E27FC236}">
                <a16:creationId xmlns:a16="http://schemas.microsoft.com/office/drawing/2014/main" id="{21DDD267-2CB3-4EDE-9745-69D31DF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323C1FCB-167D-4E9E-994C-CE5BC3AE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亮点六：学习搭子匹配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13">
            <a:extLst xmlns:a="http://schemas.openxmlformats.org/drawingml/2006/main">
              <a:ext uri="{FF2B5EF4-FFF2-40B4-BE49-F238E27FC236}">
                <a16:creationId xmlns:a16="http://schemas.microsoft.com/office/drawing/2014/main" id="{0F1DB745-8E59-4198-907F-C83E975A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五因子确定性算分，不把随机推荐包装成匹配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3CD01B5C-1E40-4B24-BEAF-C20BA099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13">
            <a:extLst xmlns:a="http://schemas.openxmlformats.org/drawingml/2006/main">
              <a:ext uri="{FF2B5EF4-FFF2-40B4-BE49-F238E27FC236}">
                <a16:creationId xmlns:a16="http://schemas.microsoft.com/office/drawing/2014/main" id="{42660351-3002-43D1-843E-965250E9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13">
            <a:extLst xmlns:a="http://schemas.openxmlformats.org/drawingml/2006/main">
              <a:ext uri="{FF2B5EF4-FFF2-40B4-BE49-F238E27FC236}">
                <a16:creationId xmlns:a16="http://schemas.microsoft.com/office/drawing/2014/main" id="{7553824D-BB41-47D0-9FA5-D15B8592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13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match-image-frame">
            <a:extLst xmlns:a="http://schemas.openxmlformats.org/drawingml/2006/main">
              <a:ext uri="{FF2B5EF4-FFF2-40B4-BE49-F238E27FC236}">
                <a16:creationId xmlns:a16="http://schemas.microsoft.com/office/drawing/2014/main" id="{63272512-0B7C-4023-8580-3D711DE2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686300" cy="3886200"/>
          </a:xfrm>
          <a:prstGeom xmlns:a="http://schemas.openxmlformats.org/drawingml/2006/main" prst="roundRect">
            <a:avLst>
              <a:gd name="adj" fmla="val 2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9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195195f504b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1047" y="1847850"/>
            <a:ext cx="3225307" cy="3581400"/>
          </a:xfrm>
          <a:prstGeom xmlns:a="http://schemas.openxmlformats.org/drawingml/2006/main" prst="roundRect">
            <a:avLst>
              <a:gd name="adj" fmla="val 2660"/>
            </a:avLst>
          </a:prstGeom>
        </p:spPr>
      </p:pic>
      <p:graphicFrame>
        <p:nvGraphicFramePr>
          <p:cNvPr id="30" name="matching-radar-chart"/>
          <p:cNvGraphicFramePr/>
          <p:nvPr/>
        </p:nvGraphicFramePr>
        <p:xfrm>
          <a:off xmlns:a="http://schemas.openxmlformats.org/drawingml/2006/main" x="5943600" y="1676400"/>
          <a:ext xmlns:a="http://schemas.openxmlformats.org/drawingml/2006/main" cx="514350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7ad14fb6474e37"/>
          </a:graphicData>
        </a:graphic>
      </p:graphicFrame>
      <p:sp>
        <p:nvSpPr>
          <p:cNvPr id="10" name="matching-factor-note">
            <a:extLst xmlns:a="http://schemas.openxmlformats.org/drawingml/2006/main">
              <a:ext uri="{FF2B5EF4-FFF2-40B4-BE49-F238E27FC236}">
                <a16:creationId xmlns:a16="http://schemas.microsoft.com/office/drawing/2014/main" id="{95D35776-A4F9-4C11-A57D-69333582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91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当前分值：0 / 30 / 0 / 10 / 10</a:t>
            </a:r>
            <a:endParaRPr sz="11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match-score-80">
            <a:extLst xmlns:a="http://schemas.openxmlformats.org/drawingml/2006/main">
              <a:ext uri="{FF2B5EF4-FFF2-40B4-BE49-F238E27FC236}">
                <a16:creationId xmlns:a16="http://schemas.microsoft.com/office/drawing/2014/main" id="{46121AA8-6033-432D-A4BA-0A922746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23812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match-score-80-value">
            <a:extLst xmlns:a="http://schemas.openxmlformats.org/drawingml/2006/main">
              <a:ext uri="{FF2B5EF4-FFF2-40B4-BE49-F238E27FC236}">
                <a16:creationId xmlns:a16="http://schemas.microsoft.com/office/drawing/2014/main" id="{C41DC0A9-A82E-4D27-A9B1-87A82894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50 分</a:t>
            </a:r>
            <a:endParaRPr sz="24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match-score-80-label">
            <a:extLst xmlns:a="http://schemas.openxmlformats.org/drawingml/2006/main">
              <a:ext uri="{FF2B5EF4-FFF2-40B4-BE49-F238E27FC236}">
                <a16:creationId xmlns:a16="http://schemas.microsoft.com/office/drawing/2014/main" id="{604B3432-41E8-4088-9DEC-384235F8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候选人与当前资料组合的匹配结果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match-score-15">
            <a:extLst xmlns:a="http://schemas.openxmlformats.org/drawingml/2006/main">
              <a:ext uri="{FF2B5EF4-FFF2-40B4-BE49-F238E27FC236}">
                <a16:creationId xmlns:a16="http://schemas.microsoft.com/office/drawing/2014/main" id="{A8A73DA1-7BA6-4DCD-B86E-74D84480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05400"/>
            <a:ext cx="22479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match-score-15-value">
            <a:extLst xmlns:a="http://schemas.openxmlformats.org/drawingml/2006/main">
              <a:ext uri="{FF2B5EF4-FFF2-40B4-BE49-F238E27FC236}">
                <a16:creationId xmlns:a16="http://schemas.microsoft.com/office/drawing/2014/main" id="{593C6CAA-3F94-4F04-8482-181201EA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197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确定性</a:t>
            </a:r>
            <a:endParaRPr sz="24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match-score-15-label">
            <a:extLst xmlns:a="http://schemas.openxmlformats.org/drawingml/2006/main">
              <a:ext uri="{FF2B5EF4-FFF2-40B4-BE49-F238E27FC236}">
                <a16:creationId xmlns:a16="http://schemas.microsoft.com/office/drawing/2014/main" id="{4F9B7F59-27C2-4289-8ED9-CCEB5BCC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388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同一份资料每次结果完全一致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590636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362af800f48a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7" name="accent-14">
            <a:extLst xmlns:a="http://schemas.openxmlformats.org/drawingml/2006/main">
              <a:ext uri="{FF2B5EF4-FFF2-40B4-BE49-F238E27FC236}">
                <a16:creationId xmlns:a16="http://schemas.microsoft.com/office/drawing/2014/main" id="{570230C5-3B77-4997-9C27-64D1FF72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93D4EFC6-F2CB-47A4-92AB-A694131F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亮点七：知识库混合检索与如实上报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14">
            <a:extLst xmlns:a="http://schemas.openxmlformats.org/drawingml/2006/main">
              <a:ext uri="{FF2B5EF4-FFF2-40B4-BE49-F238E27FC236}">
                <a16:creationId xmlns:a16="http://schemas.microsoft.com/office/drawing/2014/main" id="{EA9031C0-0EAD-48D1-92AF-92C420D7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关键词与标签提供稳定兜底，语义重排作为可插拔增强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FE2E4E6D-E3AA-4D01-BA87-F1C9D014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14">
            <a:extLst xmlns:a="http://schemas.openxmlformats.org/drawingml/2006/main">
              <a:ext uri="{FF2B5EF4-FFF2-40B4-BE49-F238E27FC236}">
                <a16:creationId xmlns:a16="http://schemas.microsoft.com/office/drawing/2014/main" id="{47581839-E2B4-43E8-BC05-F4C95912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14">
            <a:extLst xmlns:a="http://schemas.openxmlformats.org/drawingml/2006/main">
              <a:ext uri="{FF2B5EF4-FFF2-40B4-BE49-F238E27FC236}">
                <a16:creationId xmlns:a16="http://schemas.microsoft.com/office/drawing/2014/main" id="{5C202651-5F10-4BFD-A012-BD0AEAF1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14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rag-node-0">
            <a:extLst xmlns:a="http://schemas.openxmlformats.org/drawingml/2006/main">
              <a:ext uri="{FF2B5EF4-FFF2-40B4-BE49-F238E27FC236}">
                <a16:creationId xmlns:a16="http://schemas.microsoft.com/office/drawing/2014/main" id="{096A8629-EC2C-4B3F-8792-113EAE13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5621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rag-title-0">
            <a:extLst xmlns:a="http://schemas.openxmlformats.org/drawingml/2006/main">
              <a:ext uri="{FF2B5EF4-FFF2-40B4-BE49-F238E27FC236}">
                <a16:creationId xmlns:a16="http://schemas.microsoft.com/office/drawing/2014/main" id="{DA8EFC78-3270-451A-967C-2766C143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上传课件</a:t>
            </a:r>
            <a:endParaRPr sz="13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rag-copy-0">
            <a:extLst xmlns:a="http://schemas.openxmlformats.org/drawingml/2006/main">
              <a:ext uri="{FF2B5EF4-FFF2-40B4-BE49-F238E27FC236}">
                <a16:creationId xmlns:a16="http://schemas.microsoft.com/office/drawing/2014/main" id="{DA61AD3B-EA49-4E38-8281-E881BA9D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PDF / 文本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rag-arrow-0">
            <a:extLst xmlns:a="http://schemas.openxmlformats.org/drawingml/2006/main">
              <a:ext uri="{FF2B5EF4-FFF2-40B4-BE49-F238E27FC236}">
                <a16:creationId xmlns:a16="http://schemas.microsoft.com/office/drawing/2014/main" id="{E43F1FC3-010A-462E-943D-EE866164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4317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g-node-1">
            <a:extLst xmlns:a="http://schemas.openxmlformats.org/drawingml/2006/main">
              <a:ext uri="{FF2B5EF4-FFF2-40B4-BE49-F238E27FC236}">
                <a16:creationId xmlns:a16="http://schemas.microsoft.com/office/drawing/2014/main" id="{5B5B126E-9C82-4CBB-AABC-C5132DEF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90750"/>
            <a:ext cx="15621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rag-title-1">
            <a:extLst xmlns:a="http://schemas.openxmlformats.org/drawingml/2006/main">
              <a:ext uri="{FF2B5EF4-FFF2-40B4-BE49-F238E27FC236}">
                <a16:creationId xmlns:a16="http://schemas.microsoft.com/office/drawing/2014/main" id="{DD76123C-D72D-4B77-B524-1D4A5CB0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切片</a:t>
            </a:r>
            <a:endParaRPr sz="13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rag-copy-1">
            <a:extLst xmlns:a="http://schemas.openxmlformats.org/drawingml/2006/main">
              <a:ext uri="{FF2B5EF4-FFF2-40B4-BE49-F238E27FC236}">
                <a16:creationId xmlns:a16="http://schemas.microsoft.com/office/drawing/2014/main" id="{5AA829ED-7B49-4C35-9B28-0E4FA4FA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按语义单元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rag-arrow-1">
            <a:extLst xmlns:a="http://schemas.openxmlformats.org/drawingml/2006/main">
              <a:ext uri="{FF2B5EF4-FFF2-40B4-BE49-F238E27FC236}">
                <a16:creationId xmlns:a16="http://schemas.microsoft.com/office/drawing/2014/main" id="{61365268-3A8F-401D-8030-4E0B923D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4317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g-node-2">
            <a:extLst xmlns:a="http://schemas.openxmlformats.org/drawingml/2006/main">
              <a:ext uri="{FF2B5EF4-FFF2-40B4-BE49-F238E27FC236}">
                <a16:creationId xmlns:a16="http://schemas.microsoft.com/office/drawing/2014/main" id="{FDF8335B-E624-4399-89B3-A7DE5C53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15621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rag-title-2">
            <a:extLst xmlns:a="http://schemas.openxmlformats.org/drawingml/2006/main">
              <a:ext uri="{FF2B5EF4-FFF2-40B4-BE49-F238E27FC236}">
                <a16:creationId xmlns:a16="http://schemas.microsoft.com/office/drawing/2014/main" id="{30877610-7844-4341-AF39-2E355498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关键词打分</a:t>
            </a:r>
            <a:endParaRPr sz="13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rag-copy-2">
            <a:extLst xmlns:a="http://schemas.openxmlformats.org/drawingml/2006/main">
              <a:ext uri="{FF2B5EF4-FFF2-40B4-BE49-F238E27FC236}">
                <a16:creationId xmlns:a16="http://schemas.microsoft.com/office/drawing/2014/main" id="{C87A7D71-7004-4D9B-BAB0-8D34D26F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确定性兜底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rag-arrow-2">
            <a:extLst xmlns:a="http://schemas.openxmlformats.org/drawingml/2006/main">
              <a:ext uri="{FF2B5EF4-FFF2-40B4-BE49-F238E27FC236}">
                <a16:creationId xmlns:a16="http://schemas.microsoft.com/office/drawing/2014/main" id="{AB229433-C395-4EC4-A52F-3879C272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4317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g-node-3">
            <a:extLst xmlns:a="http://schemas.openxmlformats.org/drawingml/2006/main">
              <a:ext uri="{FF2B5EF4-FFF2-40B4-BE49-F238E27FC236}">
                <a16:creationId xmlns:a16="http://schemas.microsoft.com/office/drawing/2014/main" id="{D7C1EC15-5008-42DA-A441-CAA3E739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15621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0" name="rag-title-3">
            <a:extLst xmlns:a="http://schemas.openxmlformats.org/drawingml/2006/main">
              <a:ext uri="{FF2B5EF4-FFF2-40B4-BE49-F238E27FC236}">
                <a16:creationId xmlns:a16="http://schemas.microsoft.com/office/drawing/2014/main" id="{B579D4C3-0966-4BE8-8E82-BD437B1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语义重排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rag-copy-3">
            <a:extLst xmlns:a="http://schemas.openxmlformats.org/drawingml/2006/main">
              <a:ext uri="{FF2B5EF4-FFF2-40B4-BE49-F238E27FC236}">
                <a16:creationId xmlns:a16="http://schemas.microsoft.com/office/drawing/2014/main" id="{62B28AB0-E574-47EC-97CF-FA0BA5CC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配置 Key 后尝试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rag-arrow-3">
            <a:extLst xmlns:a="http://schemas.openxmlformats.org/drawingml/2006/main">
              <a:ext uri="{FF2B5EF4-FFF2-40B4-BE49-F238E27FC236}">
                <a16:creationId xmlns:a16="http://schemas.microsoft.com/office/drawing/2014/main" id="{923E7A54-1391-40A5-B19B-83DC3756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4317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g-node-4">
            <a:extLst xmlns:a="http://schemas.openxmlformats.org/drawingml/2006/main">
              <a:ext uri="{FF2B5EF4-FFF2-40B4-BE49-F238E27FC236}">
                <a16:creationId xmlns:a16="http://schemas.microsoft.com/office/drawing/2014/main" id="{AFD1299D-A48A-4BDF-BA0F-F77793E9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15621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rag-title-4">
            <a:extLst xmlns:a="http://schemas.openxmlformats.org/drawingml/2006/main">
              <a:ext uri="{FF2B5EF4-FFF2-40B4-BE49-F238E27FC236}">
                <a16:creationId xmlns:a16="http://schemas.microsoft.com/office/drawing/2014/main" id="{E1056277-66D0-4C48-8EA8-01A39E3B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融合排序</a:t>
            </a:r>
            <a:endParaRPr sz="13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rag-copy-4">
            <a:extLst xmlns:a="http://schemas.openxmlformats.org/drawingml/2006/main">
              <a:ext uri="{FF2B5EF4-FFF2-40B4-BE49-F238E27FC236}">
                <a16:creationId xmlns:a16="http://schemas.microsoft.com/office/drawing/2014/main" id="{78733467-DCFF-48F9-876C-CBECD7CD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按综合得分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rag-arrow-4">
            <a:extLst xmlns:a="http://schemas.openxmlformats.org/drawingml/2006/main">
              <a:ext uri="{FF2B5EF4-FFF2-40B4-BE49-F238E27FC236}">
                <a16:creationId xmlns:a16="http://schemas.microsoft.com/office/drawing/2014/main" id="{F4B0DF2B-C1DE-4D4D-88C4-3C2636B7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4317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ag-node-5">
            <a:extLst xmlns:a="http://schemas.openxmlformats.org/drawingml/2006/main">
              <a:ext uri="{FF2B5EF4-FFF2-40B4-BE49-F238E27FC236}">
                <a16:creationId xmlns:a16="http://schemas.microsoft.com/office/drawing/2014/main" id="{51EEDC5E-9F33-42E1-9676-86C0A258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156210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rag-title-5">
            <a:extLst xmlns:a="http://schemas.openxmlformats.org/drawingml/2006/main">
              <a:ext uri="{FF2B5EF4-FFF2-40B4-BE49-F238E27FC236}">
                <a16:creationId xmlns:a16="http://schemas.microsoft.com/office/drawing/2014/main" id="{0AF57AB5-C26B-4E3E-ABB9-FCE3E30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返回片段</a:t>
            </a:r>
            <a:endParaRPr sz="13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rag-copy-5">
            <a:extLst xmlns:a="http://schemas.openxmlformats.org/drawingml/2006/main">
              <a:ext uri="{FF2B5EF4-FFF2-40B4-BE49-F238E27FC236}">
                <a16:creationId xmlns:a16="http://schemas.microsoft.com/office/drawing/2014/main" id="{DAA99758-C651-4D48-A3F9-37310DD7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81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展示命中依据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rag-mode-card">
            <a:extLst xmlns:a="http://schemas.openxmlformats.org/drawingml/2006/main">
              <a:ext uri="{FF2B5EF4-FFF2-40B4-BE49-F238E27FC236}">
                <a16:creationId xmlns:a16="http://schemas.microsoft.com/office/drawing/2014/main" id="{6AF5146A-2A00-4667-B875-9D57D72A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501015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rag-mode-title">
            <a:extLst xmlns:a="http://schemas.openxmlformats.org/drawingml/2006/main">
              <a:ext uri="{FF2B5EF4-FFF2-40B4-BE49-F238E27FC236}">
                <a16:creationId xmlns:a16="http://schemas.microsoft.com/office/drawing/2014/main" id="{65F15A38-1D1B-4DFB-83C7-290C2932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接口如实返回当前模式</a:t>
            </a:r>
            <a:endParaRPr sz="16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rag-mode-hybrid">
            <a:extLst xmlns:a="http://schemas.openxmlformats.org/drawingml/2006/main">
              <a:ext uri="{FF2B5EF4-FFF2-40B4-BE49-F238E27FC236}">
                <a16:creationId xmlns:a16="http://schemas.microsoft.com/office/drawing/2014/main" id="{6E9C145F-18F2-4695-A21B-0A3671E4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hybrid:semantic+keyword+tag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rag-mode-keyword">
            <a:extLst xmlns:a="http://schemas.openxmlformats.org/drawingml/2006/main">
              <a:ext uri="{FF2B5EF4-FFF2-40B4-BE49-F238E27FC236}">
                <a16:creationId xmlns:a16="http://schemas.microsoft.com/office/drawing/2014/main" id="{4B330094-D587-432B-9675-4C51B6D9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keyword+tag</a:t>
            </a:r>
            <a:endParaRPr sz="13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rag-limit-card">
            <a:extLst xmlns:a="http://schemas.openxmlformats.org/drawingml/2006/main">
              <a:ext uri="{FF2B5EF4-FFF2-40B4-BE49-F238E27FC236}">
                <a16:creationId xmlns:a16="http://schemas.microsoft.com/office/drawing/2014/main" id="{C458DC71-EC02-4083-86C4-7F79EB33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25780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5" name="rag-limit-title">
            <a:extLst xmlns:a="http://schemas.openxmlformats.org/drawingml/2006/main">
              <a:ext uri="{FF2B5EF4-FFF2-40B4-BE49-F238E27FC236}">
                <a16:creationId xmlns:a16="http://schemas.microsoft.com/office/drawing/2014/main" id="{453E39D7-AA28-4F43-A71C-FAC00B5E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5765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B4530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B45309"/>
                </a:solidFill>
                <a:latin typeface="Noto Sans SC"/>
                <a:ea typeface="Noto Sans SC"/>
                <a:cs typeface="Noto Sans SC"/>
              </a:rPr>
              <a:t>当前边界</a:t>
            </a:r>
            <a:endParaRPr sz="1650" b="1">
              <a:solidFill>
                <a:srgbClr val="B4530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6" name="rag-limit-copy">
            <a:extLst xmlns:a="http://schemas.openxmlformats.org/drawingml/2006/main">
              <a:ext uri="{FF2B5EF4-FFF2-40B4-BE49-F238E27FC236}">
                <a16:creationId xmlns:a16="http://schemas.microsoft.com/office/drawing/2014/main" id="{525A6BD3-209A-4FE5-B794-6E4E78E4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4705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语义重排在当前数据量下未实际生效：embedding 接口单请求上限 10 条，而代码一次最多提交 200 条，失败后会静默退回关键词匹配。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9476969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978f7595445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8" name="accent-15">
            <a:extLst xmlns:a="http://schemas.openxmlformats.org/drawingml/2006/main">
              <a:ext uri="{FF2B5EF4-FFF2-40B4-BE49-F238E27FC236}">
                <a16:creationId xmlns:a16="http://schemas.microsoft.com/office/drawing/2014/main" id="{AC0F753D-C69A-4295-9C16-222A9BDC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6C1BC2BF-41CC-4B5F-ACB5-ABCE805C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亮点八：Agent 决策全程可追溯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15">
            <a:extLst xmlns:a="http://schemas.openxmlformats.org/drawingml/2006/main">
              <a:ext uri="{FF2B5EF4-FFF2-40B4-BE49-F238E27FC236}">
                <a16:creationId xmlns:a16="http://schemas.microsoft.com/office/drawing/2014/main" id="{68FEE242-1216-4051-8F91-7C6593FF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记录决策与工具调用，不记录模型思维链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A95001FD-351F-4773-9926-74546A59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15">
            <a:extLst xmlns:a="http://schemas.openxmlformats.org/drawingml/2006/main">
              <a:ext uri="{FF2B5EF4-FFF2-40B4-BE49-F238E27FC236}">
                <a16:creationId xmlns:a16="http://schemas.microsoft.com/office/drawing/2014/main" id="{5A64BD2F-5F6C-4397-AB22-F418F475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15">
            <a:extLst xmlns:a="http://schemas.openxmlformats.org/drawingml/2006/main">
              <a:ext uri="{FF2B5EF4-FFF2-40B4-BE49-F238E27FC236}">
                <a16:creationId xmlns:a16="http://schemas.microsoft.com/office/drawing/2014/main" id="{319F344E-E286-48F6-9C8B-1959528F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15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trace-screen-frame">
            <a:extLst xmlns:a="http://schemas.openxmlformats.org/drawingml/2006/main">
              <a:ext uri="{FF2B5EF4-FFF2-40B4-BE49-F238E27FC236}">
                <a16:creationId xmlns:a16="http://schemas.microsoft.com/office/drawing/2014/main" id="{0213DA7E-A0A2-410C-BBA2-E6D99DF2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87705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39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04dc7179947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103" y="1714500"/>
            <a:ext cx="6683644" cy="445770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  <p:sp>
        <p:nvSpPr>
          <p:cNvPr id="9" name="trace-panel">
            <a:extLst xmlns:a="http://schemas.openxmlformats.org/drawingml/2006/main">
              <a:ext uri="{FF2B5EF4-FFF2-40B4-BE49-F238E27FC236}">
                <a16:creationId xmlns:a16="http://schemas.microsoft.com/office/drawing/2014/main" id="{54794875-A33F-457C-AA12-865FFF5F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4114800" cy="4572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trace-panel-title">
            <a:extLst xmlns:a="http://schemas.openxmlformats.org/drawingml/2006/main">
              <a:ext uri="{FF2B5EF4-FFF2-40B4-BE49-F238E27FC236}">
                <a16:creationId xmlns:a16="http://schemas.microsoft.com/office/drawing/2014/main" id="{6549A23C-552F-41A0-A867-DC938F86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三段调用链</a:t>
            </a:r>
            <a:endParaRPr sz="172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trace-row-0">
            <a:extLst xmlns:a="http://schemas.openxmlformats.org/drawingml/2006/main">
              <a:ext uri="{FF2B5EF4-FFF2-40B4-BE49-F238E27FC236}">
                <a16:creationId xmlns:a16="http://schemas.microsoft.com/office/drawing/2014/main" id="{3A8B07AA-1900-48BC-A4D1-1AB9B8B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657600" cy="81915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trace-index-0">
            <a:extLst xmlns:a="http://schemas.openxmlformats.org/drawingml/2006/main">
              <a:ext uri="{FF2B5EF4-FFF2-40B4-BE49-F238E27FC236}">
                <a16:creationId xmlns:a16="http://schemas.microsoft.com/office/drawing/2014/main" id="{1F2FD684-43A3-4335-BBB7-A1B8C3A6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  <a:endParaRPr sz="9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trace-agent-0">
            <a:extLst xmlns:a="http://schemas.openxmlformats.org/drawingml/2006/main">
              <a:ext uri="{FF2B5EF4-FFF2-40B4-BE49-F238E27FC236}">
                <a16:creationId xmlns:a16="http://schemas.microsoft.com/office/drawing/2014/main" id="{38D7E4C2-DDFB-49FD-829C-EA15F192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secretary</a:t>
            </a:r>
            <a:endParaRPr sz="12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trace-tool-0">
            <a:extLst xmlns:a="http://schemas.openxmlformats.org/drawingml/2006/main">
              <a:ext uri="{FF2B5EF4-FFF2-40B4-BE49-F238E27FC236}">
                <a16:creationId xmlns:a16="http://schemas.microsoft.com/office/drawing/2014/main" id="{A24E16C7-477A-46A3-AF14-200338AB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146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select_exercises</a:t>
            </a:r>
            <a:endParaRPr sz="9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trace-result-0">
            <a:extLst xmlns:a="http://schemas.openxmlformats.org/drawingml/2006/main">
              <a:ext uri="{FF2B5EF4-FFF2-40B4-BE49-F238E27FC236}">
                <a16:creationId xmlns:a16="http://schemas.microsoft.com/office/drawing/2014/main" id="{D41F37FD-2448-4BCA-92D8-A22B9E81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选择 3 道同类专项题</a:t>
            </a:r>
            <a:endParaRPr sz="105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trace-row-1">
            <a:extLst xmlns:a="http://schemas.openxmlformats.org/drawingml/2006/main">
              <a:ext uri="{FF2B5EF4-FFF2-40B4-BE49-F238E27FC236}">
                <a16:creationId xmlns:a16="http://schemas.microsoft.com/office/drawing/2014/main" id="{A6948097-3A63-49A1-BA10-9C0B4F06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71850"/>
            <a:ext cx="3657600" cy="81915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trace-index-1">
            <a:extLst xmlns:a="http://schemas.openxmlformats.org/drawingml/2006/main">
              <a:ext uri="{FF2B5EF4-FFF2-40B4-BE49-F238E27FC236}">
                <a16:creationId xmlns:a16="http://schemas.microsoft.com/office/drawing/2014/main" id="{99A23237-8A0A-48F8-AE74-B81D6B09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24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</a:t>
            </a:r>
            <a:endParaRPr sz="9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trace-agent-1">
            <a:extLst xmlns:a="http://schemas.openxmlformats.org/drawingml/2006/main">
              <a:ext uri="{FF2B5EF4-FFF2-40B4-BE49-F238E27FC236}">
                <a16:creationId xmlns:a16="http://schemas.microsoft.com/office/drawing/2014/main" id="{70273374-96ED-46CD-A852-5E1AC67E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exercise</a:t>
            </a:r>
            <a:endParaRPr sz="12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trace-tool-1">
            <a:extLst xmlns:a="http://schemas.openxmlformats.org/drawingml/2006/main">
              <a:ext uri="{FF2B5EF4-FFF2-40B4-BE49-F238E27FC236}">
                <a16:creationId xmlns:a16="http://schemas.microsoft.com/office/drawing/2014/main" id="{B11B5F8D-0868-405E-857E-55E30DD9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052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grade_exercise</a:t>
            </a:r>
            <a:endParaRPr sz="9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trace-result-1">
            <a:extLst xmlns:a="http://schemas.openxmlformats.org/drawingml/2006/main">
              <a:ext uri="{FF2B5EF4-FFF2-40B4-BE49-F238E27FC236}">
                <a16:creationId xmlns:a16="http://schemas.microsoft.com/office/drawing/2014/main" id="{AAC9A076-3625-44DD-9D57-1DA915C7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判分 66.67</a:t>
            </a:r>
            <a:endParaRPr sz="105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trace-row-2">
            <a:extLst xmlns:a="http://schemas.openxmlformats.org/drawingml/2006/main">
              <a:ext uri="{FF2B5EF4-FFF2-40B4-BE49-F238E27FC236}">
                <a16:creationId xmlns:a16="http://schemas.microsoft.com/office/drawing/2014/main" id="{33319B74-95CF-4880-897A-1A122012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3657600" cy="81915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trace-index-2">
            <a:extLst xmlns:a="http://schemas.openxmlformats.org/drawingml/2006/main">
              <a:ext uri="{FF2B5EF4-FFF2-40B4-BE49-F238E27FC236}">
                <a16:creationId xmlns:a16="http://schemas.microsoft.com/office/drawing/2014/main" id="{FE3529ED-35F7-42EF-969B-0F1337F8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148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</a:t>
            </a:r>
            <a:endParaRPr sz="9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trace-agent-2">
            <a:extLst xmlns:a="http://schemas.openxmlformats.org/drawingml/2006/main">
              <a:ext uri="{FF2B5EF4-FFF2-40B4-BE49-F238E27FC236}">
                <a16:creationId xmlns:a16="http://schemas.microsoft.com/office/drawing/2014/main" id="{5D76C030-2066-48CB-A8B1-57EAE2C6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assessment</a:t>
            </a:r>
            <a:endParaRPr sz="12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trace-tool-2">
            <a:extLst xmlns:a="http://schemas.openxmlformats.org/drawingml/2006/main">
              <a:ext uri="{FF2B5EF4-FFF2-40B4-BE49-F238E27FC236}">
                <a16:creationId xmlns:a16="http://schemas.microsoft.com/office/drawing/2014/main" id="{4417BC4C-32BC-4861-8B65-338AC3FC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95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update_mastery</a:t>
            </a:r>
            <a:endParaRPr sz="9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trace-result-2">
            <a:extLst xmlns:a="http://schemas.openxmlformats.org/drawingml/2006/main">
              <a:ext uri="{FF2B5EF4-FFF2-40B4-BE49-F238E27FC236}">
                <a16:creationId xmlns:a16="http://schemas.microsoft.com/office/drawing/2014/main" id="{E62587FE-9A73-44FC-AA15-A2D977EC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006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更新掌握度并写入状态版本</a:t>
            </a:r>
            <a:endParaRPr sz="105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trace-boundary-bg">
            <a:extLst xmlns:a="http://schemas.openxmlformats.org/drawingml/2006/main">
              <a:ext uri="{FF2B5EF4-FFF2-40B4-BE49-F238E27FC236}">
                <a16:creationId xmlns:a16="http://schemas.microsoft.com/office/drawing/2014/main" id="{FF489881-D277-4C5E-A272-2F2BE647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10200"/>
            <a:ext cx="36576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race-boundary">
            <a:extLst xmlns:a="http://schemas.openxmlformats.org/drawingml/2006/main">
              <a:ext uri="{FF2B5EF4-FFF2-40B4-BE49-F238E27FC236}">
                <a16:creationId xmlns:a16="http://schemas.microsoft.com/office/drawing/2014/main" id="{C4F8E699-3824-48CF-8610-4EFDB166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5340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边界：记录决策与工具调用，不记录模型思维链</a:t>
            </a:r>
            <a:endParaRPr sz="120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6246163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6c1bf301f469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accent-16">
            <a:extLst xmlns:a="http://schemas.openxmlformats.org/drawingml/2006/main">
              <a:ext uri="{FF2B5EF4-FFF2-40B4-BE49-F238E27FC236}">
                <a16:creationId xmlns:a16="http://schemas.microsoft.com/office/drawing/2014/main" id="{BA78035C-26F4-4370-A104-905C3049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C608420A-87DB-48DA-87CE-38EDD358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三层架构总览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16">
            <a:extLst xmlns:a="http://schemas.openxmlformats.org/drawingml/2006/main">
              <a:ext uri="{FF2B5EF4-FFF2-40B4-BE49-F238E27FC236}">
                <a16:creationId xmlns:a16="http://schemas.microsoft.com/office/drawing/2014/main" id="{D9EAEE14-4318-43D4-93FE-FF7932D4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单一真源收敛前后端契约，确定性计算位于最底层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8088C812-07A4-4B4F-A83B-888C804D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16">
            <a:extLst xmlns:a="http://schemas.openxmlformats.org/drawingml/2006/main">
              <a:ext uri="{FF2B5EF4-FFF2-40B4-BE49-F238E27FC236}">
                <a16:creationId xmlns:a16="http://schemas.microsoft.com/office/drawing/2014/main" id="{A2E67BC4-4D1D-4500-877F-34B371BD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16">
            <a:extLst xmlns:a="http://schemas.openxmlformats.org/drawingml/2006/main">
              <a:ext uri="{FF2B5EF4-FFF2-40B4-BE49-F238E27FC236}">
                <a16:creationId xmlns:a16="http://schemas.microsoft.com/office/drawing/2014/main" id="{EFE11664-2D4C-45AB-A0E1-FD509743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16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layer-bg-0">
            <a:extLst xmlns:a="http://schemas.openxmlformats.org/drawingml/2006/main">
              <a:ext uri="{FF2B5EF4-FFF2-40B4-BE49-F238E27FC236}">
                <a16:creationId xmlns:a16="http://schemas.microsoft.com/office/drawing/2014/main" id="{8C87EFD1-A359-450B-ABD4-6FA1FBF1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0401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C453D989-BFB2-48B9-ABF8-0C6ACC21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表现层</a:t>
            </a:r>
            <a:endParaRPr sz="21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layer-tech-0">
            <a:extLst xmlns:a="http://schemas.openxmlformats.org/drawingml/2006/main">
              <a:ext uri="{FF2B5EF4-FFF2-40B4-BE49-F238E27FC236}">
                <a16:creationId xmlns:a16="http://schemas.microsoft.com/office/drawing/2014/main" id="{B3768CA5-0EC9-4274-B026-4AC2F75C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81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HarmonyOS · ArkTS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layer-detail-0">
            <a:extLst xmlns:a="http://schemas.openxmlformats.org/drawingml/2006/main">
              <a:ext uri="{FF2B5EF4-FFF2-40B4-BE49-F238E27FC236}">
                <a16:creationId xmlns:a16="http://schemas.microsoft.com/office/drawing/2014/main" id="{ADEC9677-4BA8-4A02-A3DB-FD39FA07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43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20 个页面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layer-extra-0">
            <a:extLst xmlns:a="http://schemas.openxmlformats.org/drawingml/2006/main">
              <a:ext uri="{FF2B5EF4-FFF2-40B4-BE49-F238E27FC236}">
                <a16:creationId xmlns:a16="http://schemas.microsoft.com/office/drawing/2014/main" id="{BA860819-DAD3-4E27-A391-1C99B944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服务卡片 · 小艺意图 · 大屏适配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layer-arrow-0">
            <a:extLst xmlns:a="http://schemas.openxmlformats.org/drawingml/2006/main">
              <a:ext uri="{FF2B5EF4-FFF2-40B4-BE49-F238E27FC236}">
                <a16:creationId xmlns:a16="http://schemas.microsoft.com/office/drawing/2014/main" id="{25AF7B44-7234-4176-B59E-C6D586B6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38450"/>
            <a:ext cx="4191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yer-bg-1">
            <a:extLst xmlns:a="http://schemas.openxmlformats.org/drawingml/2006/main">
              <a:ext uri="{FF2B5EF4-FFF2-40B4-BE49-F238E27FC236}">
                <a16:creationId xmlns:a16="http://schemas.microsoft.com/office/drawing/2014/main" id="{5CF41EC0-3B59-4207-BE5D-B36CE172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0401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4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D198824E-CD23-4746-A88B-A6C39AE5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Agent 层</a:t>
            </a:r>
            <a:endParaRPr sz="21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layer-tech-1">
            <a:extLst xmlns:a="http://schemas.openxmlformats.org/drawingml/2006/main">
              <a:ext uri="{FF2B5EF4-FFF2-40B4-BE49-F238E27FC236}">
                <a16:creationId xmlns:a16="http://schemas.microsoft.com/office/drawing/2014/main" id="{87A2E9B4-8DC8-448B-964B-3AF2FB12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33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Python 单进程 · 单端口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layer-detail-1">
            <a:extLst xmlns:a="http://schemas.openxmlformats.org/drawingml/2006/main">
              <a:ext uri="{FF2B5EF4-FFF2-40B4-BE49-F238E27FC236}">
                <a16:creationId xmlns:a16="http://schemas.microsoft.com/office/drawing/2014/main" id="{1C8C6519-B79F-47AC-AF35-8BE10C2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95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自然语言层 + 结构化工作流层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layer-extra-1">
            <a:extLst xmlns:a="http://schemas.openxmlformats.org/drawingml/2006/main">
              <a:ext uri="{FF2B5EF4-FFF2-40B4-BE49-F238E27FC236}">
                <a16:creationId xmlns:a16="http://schemas.microsoft.com/office/drawing/2014/main" id="{E9FFCF1B-DEC3-4110-9A57-616405A0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契约单一真源，避免两个后端地址漂移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layer-arrow-1">
            <a:extLst xmlns:a="http://schemas.openxmlformats.org/drawingml/2006/main">
              <a:ext uri="{FF2B5EF4-FFF2-40B4-BE49-F238E27FC236}">
                <a16:creationId xmlns:a16="http://schemas.microsoft.com/office/drawing/2014/main" id="{E9EBAF8F-5773-43BA-899D-FA5318F3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91000"/>
            <a:ext cx="4191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layer-bg-2">
            <a:extLst xmlns:a="http://schemas.openxmlformats.org/drawingml/2006/main">
              <a:ext uri="{FF2B5EF4-FFF2-40B4-BE49-F238E27FC236}">
                <a16:creationId xmlns:a16="http://schemas.microsoft.com/office/drawing/2014/main" id="{ABA98B6D-49B3-4312-8669-E19B18B6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10401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9525">
            <a:solidFill>
              <a:srgbClr val="1F3A5F"/>
            </a:solidFill>
            <a:prstDash val="solid"/>
          </a:ln>
        </p:spPr>
      </p:sp>
      <p:sp>
        <p:nvSpPr>
          <p:cNvPr id="20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94DFC975-813C-4F28-A879-334CD352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计算层</a:t>
            </a:r>
            <a:endParaRPr sz="21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layer-tech-2">
            <a:extLst xmlns:a="http://schemas.openxmlformats.org/drawingml/2006/main">
              <a:ext uri="{FF2B5EF4-FFF2-40B4-BE49-F238E27FC236}">
                <a16:creationId xmlns:a16="http://schemas.microsoft.com/office/drawing/2014/main" id="{8601C986-5F8B-4977-80EB-ACD0299F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86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确定性代码</a:t>
            </a:r>
            <a:endParaRPr sz="15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layer-detail-2">
            <a:extLst xmlns:a="http://schemas.openxmlformats.org/drawingml/2006/main">
              <a:ext uri="{FF2B5EF4-FFF2-40B4-BE49-F238E27FC236}">
                <a16:creationId xmlns:a16="http://schemas.microsoft.com/office/drawing/2014/main" id="{255166DD-FE2E-4C8C-B437-8ACB760A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482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DBEAF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DBEAFE"/>
                </a:solidFill>
                <a:latin typeface="Noto Sans SC"/>
                <a:ea typeface="Noto Sans SC"/>
                <a:cs typeface="Noto Sans SC"/>
              </a:rPr>
              <a:t>判分 · 掌握度 · 五因子优先级 · 重规划</a:t>
            </a:r>
            <a:endParaRPr sz="1275" b="0">
              <a:solidFill>
                <a:srgbClr val="DBEAF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layer-extra-2">
            <a:extLst xmlns:a="http://schemas.openxmlformats.org/drawingml/2006/main">
              <a:ext uri="{FF2B5EF4-FFF2-40B4-BE49-F238E27FC236}">
                <a16:creationId xmlns:a16="http://schemas.microsoft.com/office/drawing/2014/main" id="{0F9A876C-7809-4EA6-B1BD-7CFB8772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196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125" b="0">
                <a:solidFill>
                  <a:srgbClr val="BFDBF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BFDBFE"/>
                </a:solidFill>
                <a:latin typeface="Noto Sans SC"/>
                <a:ea typeface="Noto Sans SC"/>
                <a:cs typeface="Noto Sans SC"/>
              </a:rPr>
              <a:t>纯函数，不依赖外部服务</a:t>
            </a:r>
            <a:endParaRPr sz="1125" b="0">
              <a:solidFill>
                <a:srgbClr val="BFDBF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arch-note">
            <a:extLst xmlns:a="http://schemas.openxmlformats.org/drawingml/2006/main">
              <a:ext uri="{FF2B5EF4-FFF2-40B4-BE49-F238E27FC236}">
                <a16:creationId xmlns:a16="http://schemas.microsoft.com/office/drawing/2014/main" id="{AF1848BE-4B9C-4116-B889-22A24B88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62650"/>
            <a:ext cx="826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为什么单进程：早期聊天与结构化流各有一个后端地址，契约容易漂移；现在收敛为单一真源。</a:t>
            </a:r>
            <a:endParaRPr sz="1275" b="1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728633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7136c4a6641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accent-17">
            <a:extLst xmlns:a="http://schemas.openxmlformats.org/drawingml/2006/main">
              <a:ext uri="{FF2B5EF4-FFF2-40B4-BE49-F238E27FC236}">
                <a16:creationId xmlns:a16="http://schemas.microsoft.com/office/drawing/2014/main" id="{F802E60C-D481-40BB-8C05-F66DC49C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3743F132-7754-47DA-A6BC-5C702E8D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核心设计纪律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17">
            <a:extLst xmlns:a="http://schemas.openxmlformats.org/drawingml/2006/main">
              <a:ext uri="{FF2B5EF4-FFF2-40B4-BE49-F238E27FC236}">
                <a16:creationId xmlns:a16="http://schemas.microsoft.com/office/drawing/2014/main" id="{34F0A109-0153-409A-8C9F-E2CE682B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模型只产语言，数值全部由确定性代码算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17">
            <a:extLst xmlns:a="http://schemas.openxmlformats.org/drawingml/2006/main">
              <a:ext uri="{FF2B5EF4-FFF2-40B4-BE49-F238E27FC236}">
                <a16:creationId xmlns:a16="http://schemas.microsoft.com/office/drawing/2014/main" id="{A25F2AD1-1238-47B6-8747-8E13A082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17">
            <a:extLst xmlns:a="http://schemas.openxmlformats.org/drawingml/2006/main">
              <a:ext uri="{FF2B5EF4-FFF2-40B4-BE49-F238E27FC236}">
                <a16:creationId xmlns:a16="http://schemas.microsoft.com/office/drawing/2014/main" id="{A7595AD2-0437-4BCC-9917-651E715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17">
            <a:extLst xmlns:a="http://schemas.openxmlformats.org/drawingml/2006/main">
              <a:ext uri="{FF2B5EF4-FFF2-40B4-BE49-F238E27FC236}">
                <a16:creationId xmlns:a16="http://schemas.microsoft.com/office/drawing/2014/main" id="{8FA3B189-F67E-410D-8264-AF0AB161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17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discipline-claim">
            <a:extLst xmlns:a="http://schemas.openxmlformats.org/drawingml/2006/main">
              <a:ext uri="{FF2B5EF4-FFF2-40B4-BE49-F238E27FC236}">
                <a16:creationId xmlns:a16="http://schemas.microsoft.com/office/drawing/2014/main" id="{8341FCBC-ABDE-4E16-858E-FFF48BAC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782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把大模型整个拔掉，产品闭环依然跑得完，基线数值不变。</a:t>
            </a:r>
            <a:endParaRPr sz="22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graphicFrame>
        <p:nvGraphicFramePr>
          <p:cNvPr id="20" name="表格 15"/>
          <p:cNvGraphicFramePr/>
          <p:nvPr/>
        </p:nvGraphicFramePr>
        <p:xfrm>
          <a:off xmlns:a="http://schemas.openxmlformats.org/drawingml/2006/main" x="876300" y="2647950"/>
          <a:ext xmlns:a="http://schemas.openxmlformats.org/drawingml/2006/main" cx="10439400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395"/>
                <a:gridCol w="6347155"/>
                <a:gridCol w="1920850"/>
              </a:tblGrid>
              <a:tr h="1003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谁在干活</a:t>
                      </a:r>
                      <a:endParaRPr sz="1275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1440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负责什么</a:t>
                      </a:r>
                      <a:endParaRPr sz="1275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1440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是否进入 prompt</a:t>
                      </a:r>
                      <a:endParaRPr sz="1275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1440" marR="91440" marT="45720" marB="45720" anchor="ctr">
                    <a:solidFill>
                      <a:srgbClr val="1F3A5F"/>
                    </a:solidFill>
                  </a:tcPr>
                </a:tc>
              </a:tr>
              <a:tr h="1003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大模型</a:t>
                      </a:r>
                      <a:endParaRPr sz="1425" b="0">
                        <a:solidFill>
                          <a:srgbClr val="1F2937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Qwen-VL</a:t>
                      </a:r>
                      <a:endParaRPr sz="1425" b="0">
                        <a:solidFill>
                          <a:srgbClr val="1F2937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理解意图、生成自然语言回复、识别错题图片</a:t>
                      </a:r>
                      <a:endParaRPr sz="1425" b="0">
                        <a:solidFill>
                          <a:srgbClr val="1F2937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0F766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是</a:t>
                      </a:r>
                      <a:endParaRPr sz="1500" b="1">
                        <a:solidFill>
                          <a:srgbClr val="0F766E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1440" marR="91440" marT="45720" marB="45720" anchor="ctr">
                    <a:solidFill>
                      <a:srgbClr val="E6F4F1"/>
                    </a:solidFill>
                  </a:tcPr>
                </a:tc>
              </a:tr>
              <a:tr h="10033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确定性代码</a:t>
                      </a:r>
                      <a:endParaRPr sz="1425" b="0">
                        <a:solidFill>
                          <a:srgbClr val="1F2937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判分、掌握度更新、五因子优先级、计划重规划、主动服务决策</a:t>
                      </a:r>
                      <a:endParaRPr sz="1425" b="0">
                        <a:solidFill>
                          <a:srgbClr val="1F2937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1440" marR="91440" marT="45720" marB="45720"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2563EB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一行都不进</a:t>
                      </a:r>
                      <a:endParaRPr sz="1500" b="1">
                        <a:solidFill>
                          <a:srgbClr val="2563EB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1440" marR="91440" marT="45720" marB="45720"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364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26b02035f4f5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5" name="accent-18">
            <a:extLst xmlns:a="http://schemas.openxmlformats.org/drawingml/2006/main">
              <a:ext uri="{FF2B5EF4-FFF2-40B4-BE49-F238E27FC236}">
                <a16:creationId xmlns:a16="http://schemas.microsoft.com/office/drawing/2014/main" id="{6BE0C281-1B76-4790-AFDA-7411CA9F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55891431-EDC6-491B-8AE9-8D92EDB4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确定性决策引擎拆解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18">
            <a:extLst xmlns:a="http://schemas.openxmlformats.org/drawingml/2006/main">
              <a:ext uri="{FF2B5EF4-FFF2-40B4-BE49-F238E27FC236}">
                <a16:creationId xmlns:a16="http://schemas.microsoft.com/office/drawing/2014/main" id="{EAC47AB0-EAE9-4F74-974B-CC97D6AC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优先级与掌握度规则均为可复现的纯函数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18">
            <a:extLst xmlns:a="http://schemas.openxmlformats.org/drawingml/2006/main">
              <a:ext uri="{FF2B5EF4-FFF2-40B4-BE49-F238E27FC236}">
                <a16:creationId xmlns:a16="http://schemas.microsoft.com/office/drawing/2014/main" id="{37E3B1A0-3B18-412F-AA4C-3EE2FDF0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18">
            <a:extLst xmlns:a="http://schemas.openxmlformats.org/drawingml/2006/main">
              <a:ext uri="{FF2B5EF4-FFF2-40B4-BE49-F238E27FC236}">
                <a16:creationId xmlns:a16="http://schemas.microsoft.com/office/drawing/2014/main" id="{3F4DA5A4-4DB4-409F-8812-D1E96ED5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18">
            <a:extLst xmlns:a="http://schemas.openxmlformats.org/drawingml/2006/main">
              <a:ext uri="{FF2B5EF4-FFF2-40B4-BE49-F238E27FC236}">
                <a16:creationId xmlns:a16="http://schemas.microsoft.com/office/drawing/2014/main" id="{7E12487E-888D-447F-A8AF-743A3BE9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18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engine-left-title">
            <a:extLst xmlns:a="http://schemas.openxmlformats.org/drawingml/2006/main">
              <a:ext uri="{FF2B5EF4-FFF2-40B4-BE49-F238E27FC236}">
                <a16:creationId xmlns:a16="http://schemas.microsoft.com/office/drawing/2014/main" id="{15CD1BEA-0188-4138-B7FE-6EE962FF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五因子优先级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factor-bg-0">
            <a:extLst xmlns:a="http://schemas.openxmlformats.org/drawingml/2006/main">
              <a:ext uri="{FF2B5EF4-FFF2-40B4-BE49-F238E27FC236}">
                <a16:creationId xmlns:a16="http://schemas.microsoft.com/office/drawing/2014/main" id="{FB981F24-FE00-42CC-BEC3-AFF19E16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89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factor-tech-0">
            <a:extLst xmlns:a="http://schemas.openxmlformats.org/drawingml/2006/main">
              <a:ext uri="{FF2B5EF4-FFF2-40B4-BE49-F238E27FC236}">
                <a16:creationId xmlns:a16="http://schemas.microsoft.com/office/drawing/2014/main" id="{9C617A45-CCFB-4AA7-8529-882CC058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55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mastery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factor-name-0">
            <a:extLst xmlns:a="http://schemas.openxmlformats.org/drawingml/2006/main">
              <a:ext uri="{FF2B5EF4-FFF2-40B4-BE49-F238E27FC236}">
                <a16:creationId xmlns:a16="http://schemas.microsoft.com/office/drawing/2014/main" id="{8F5A1B23-19C9-4947-9596-5DA8FBDE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764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掌握度</a:t>
            </a:r>
            <a:endParaRPr sz="12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factor-weight-0">
            <a:extLst xmlns:a="http://schemas.openxmlformats.org/drawingml/2006/main">
              <a:ext uri="{FF2B5EF4-FFF2-40B4-BE49-F238E27FC236}">
                <a16:creationId xmlns:a16="http://schemas.microsoft.com/office/drawing/2014/main" id="{C23DB1C2-0B21-479E-BD25-C66A7723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0.30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factor-bg-1">
            <a:extLst xmlns:a="http://schemas.openxmlformats.org/drawingml/2006/main">
              <a:ext uri="{FF2B5EF4-FFF2-40B4-BE49-F238E27FC236}">
                <a16:creationId xmlns:a16="http://schemas.microsoft.com/office/drawing/2014/main" id="{2AA66D95-C513-4C0B-9BE1-7C6F83C5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89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factor-tech-1">
            <a:extLst xmlns:a="http://schemas.openxmlformats.org/drawingml/2006/main">
              <a:ext uri="{FF2B5EF4-FFF2-40B4-BE49-F238E27FC236}">
                <a16:creationId xmlns:a16="http://schemas.microsoft.com/office/drawing/2014/main" id="{0CF08029-357A-4A80-9DB7-554770D2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errorIntensity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factor-name-1">
            <a:extLst xmlns:a="http://schemas.openxmlformats.org/drawingml/2006/main">
              <a:ext uri="{FF2B5EF4-FFF2-40B4-BE49-F238E27FC236}">
                <a16:creationId xmlns:a16="http://schemas.microsoft.com/office/drawing/2014/main" id="{D6259784-EDC3-42F6-9716-E459625B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670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错误强度</a:t>
            </a:r>
            <a:endParaRPr sz="12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factor-weight-1">
            <a:extLst xmlns:a="http://schemas.openxmlformats.org/drawingml/2006/main">
              <a:ext uri="{FF2B5EF4-FFF2-40B4-BE49-F238E27FC236}">
                <a16:creationId xmlns:a16="http://schemas.microsoft.com/office/drawing/2014/main" id="{2FE52CAA-1ABB-4FA7-8655-E5C70636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0.25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factor-bg-2">
            <a:extLst xmlns:a="http://schemas.openxmlformats.org/drawingml/2006/main">
              <a:ext uri="{FF2B5EF4-FFF2-40B4-BE49-F238E27FC236}">
                <a16:creationId xmlns:a16="http://schemas.microsoft.com/office/drawing/2014/main" id="{0C01A55E-20E5-491D-B645-6B34D767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89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factor-tech-2">
            <a:extLst xmlns:a="http://schemas.openxmlformats.org/drawingml/2006/main">
              <a:ext uri="{FF2B5EF4-FFF2-40B4-BE49-F238E27FC236}">
                <a16:creationId xmlns:a16="http://schemas.microsoft.com/office/drawing/2014/main" id="{2EC24BB9-DB8D-4A60-BAAB-FF3DA61A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importance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factor-name-2">
            <a:extLst xmlns:a="http://schemas.openxmlformats.org/drawingml/2006/main">
              <a:ext uri="{FF2B5EF4-FFF2-40B4-BE49-F238E27FC236}">
                <a16:creationId xmlns:a16="http://schemas.microsoft.com/office/drawing/2014/main" id="{02C26492-086A-407B-9ED8-BF8F5A90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575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重要性</a:t>
            </a:r>
            <a:endParaRPr sz="12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factor-weight-2">
            <a:extLst xmlns:a="http://schemas.openxmlformats.org/drawingml/2006/main">
              <a:ext uri="{FF2B5EF4-FFF2-40B4-BE49-F238E27FC236}">
                <a16:creationId xmlns:a16="http://schemas.microsoft.com/office/drawing/2014/main" id="{838A4C14-895A-45D8-825B-08C6F1D0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0.20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factor-bg-3">
            <a:extLst xmlns:a="http://schemas.openxmlformats.org/drawingml/2006/main">
              <a:ext uri="{FF2B5EF4-FFF2-40B4-BE49-F238E27FC236}">
                <a16:creationId xmlns:a16="http://schemas.microsoft.com/office/drawing/2014/main" id="{E51B8F6B-810C-4A16-8685-AB9ABB58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89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factor-tech-3">
            <a:extLst xmlns:a="http://schemas.openxmlformats.org/drawingml/2006/main">
              <a:ext uri="{FF2B5EF4-FFF2-40B4-BE49-F238E27FC236}">
                <a16:creationId xmlns:a16="http://schemas.microsoft.com/office/drawing/2014/main" id="{70A9AC62-36C0-4D11-99ED-642BD9E3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urgency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factor-name-3">
            <a:extLst xmlns:a="http://schemas.openxmlformats.org/drawingml/2006/main">
              <a:ext uri="{FF2B5EF4-FFF2-40B4-BE49-F238E27FC236}">
                <a16:creationId xmlns:a16="http://schemas.microsoft.com/office/drawing/2014/main" id="{035CC1DF-D8B6-4287-94FC-B16916F2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4812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紧迫度</a:t>
            </a:r>
            <a:endParaRPr sz="12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factor-weight-3">
            <a:extLst xmlns:a="http://schemas.openxmlformats.org/drawingml/2006/main">
              <a:ext uri="{FF2B5EF4-FFF2-40B4-BE49-F238E27FC236}">
                <a16:creationId xmlns:a16="http://schemas.microsoft.com/office/drawing/2014/main" id="{6235DD04-470B-4463-B099-53A1D3EC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0.15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factor-bg-4">
            <a:extLst xmlns:a="http://schemas.openxmlformats.org/drawingml/2006/main">
              <a:ext uri="{FF2B5EF4-FFF2-40B4-BE49-F238E27FC236}">
                <a16:creationId xmlns:a16="http://schemas.microsoft.com/office/drawing/2014/main" id="{78154644-AD57-4EDD-9C21-D71E1DB3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89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factor-tech-4">
            <a:extLst xmlns:a="http://schemas.openxmlformats.org/drawingml/2006/main">
              <a:ext uri="{FF2B5EF4-FFF2-40B4-BE49-F238E27FC236}">
                <a16:creationId xmlns:a16="http://schemas.microsoft.com/office/drawing/2014/main" id="{D1F31173-9258-4466-A954-BF4F5626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prerequisiteImpact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factor-name-4">
            <a:extLst xmlns:a="http://schemas.openxmlformats.org/drawingml/2006/main">
              <a:ext uri="{FF2B5EF4-FFF2-40B4-BE49-F238E27FC236}">
                <a16:creationId xmlns:a16="http://schemas.microsoft.com/office/drawing/2014/main" id="{AFBD163C-F13A-40F9-A3C9-A4944299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38675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前置影响</a:t>
            </a:r>
            <a:endParaRPr sz="12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factor-weight-4">
            <a:extLst xmlns:a="http://schemas.openxmlformats.org/drawingml/2006/main">
              <a:ext uri="{FF2B5EF4-FFF2-40B4-BE49-F238E27FC236}">
                <a16:creationId xmlns:a16="http://schemas.microsoft.com/office/drawing/2014/main" id="{D81D886D-A7FF-4D73-A923-61E34484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0.10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engine-right-title">
            <a:extLst xmlns:a="http://schemas.openxmlformats.org/drawingml/2006/main">
              <a:ext uri="{FF2B5EF4-FFF2-40B4-BE49-F238E27FC236}">
                <a16:creationId xmlns:a16="http://schemas.microsoft.com/office/drawing/2014/main" id="{6D59BF7B-18B1-491B-8D23-7A5AF7DE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57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掌握度四档规则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mastery-level-0">
            <a:extLst xmlns:a="http://schemas.openxmlformats.org/drawingml/2006/main">
              <a:ext uri="{FF2B5EF4-FFF2-40B4-BE49-F238E27FC236}">
                <a16:creationId xmlns:a16="http://schemas.microsoft.com/office/drawing/2014/main" id="{5CD02F38-159C-4389-B9B5-9FEED9FA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086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满分    +29</a:t>
            </a:r>
            <a:endParaRPr sz="15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mastery-level-1">
            <a:extLst xmlns:a="http://schemas.openxmlformats.org/drawingml/2006/main">
              <a:ext uri="{FF2B5EF4-FFF2-40B4-BE49-F238E27FC236}">
                <a16:creationId xmlns:a16="http://schemas.microsoft.com/office/drawing/2014/main" id="{BA6CBDEE-E34E-4765-BE21-829A4FBB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33700"/>
            <a:ext cx="464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≥ 60 分    +16</a:t>
            </a:r>
            <a:endParaRPr sz="15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mastery-level-2">
            <a:extLst xmlns:a="http://schemas.openxmlformats.org/drawingml/2006/main">
              <a:ext uri="{FF2B5EF4-FFF2-40B4-BE49-F238E27FC236}">
                <a16:creationId xmlns:a16="http://schemas.microsoft.com/office/drawing/2014/main" id="{B5F5B72A-2323-4FA6-AE1F-771DDAE6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4210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≥ 40 分    +4</a:t>
            </a:r>
            <a:endParaRPr sz="15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mastery-level-3">
            <a:extLst xmlns:a="http://schemas.openxmlformats.org/drawingml/2006/main">
              <a:ext uri="{FF2B5EF4-FFF2-40B4-BE49-F238E27FC236}">
                <a16:creationId xmlns:a16="http://schemas.microsoft.com/office/drawing/2014/main" id="{B2236286-9220-4B12-9CD7-7E7B009B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05300"/>
            <a:ext cx="3771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93C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&lt; 40 分    −4</a:t>
            </a:r>
            <a:endParaRPr sz="15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engine-clamp">
            <a:extLst xmlns:a="http://schemas.openxmlformats.org/drawingml/2006/main">
              <a:ext uri="{FF2B5EF4-FFF2-40B4-BE49-F238E27FC236}">
                <a16:creationId xmlns:a16="http://schemas.microsoft.com/office/drawing/2014/main" id="{A63DBFD8-1408-4544-818A-CF6CCB17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81600"/>
            <a:ext cx="508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掌握度在 0–100 区间截断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engine-source">
            <a:extLst xmlns:a="http://schemas.openxmlformats.org/drawingml/2006/main">
              <a:ext uri="{FF2B5EF4-FFF2-40B4-BE49-F238E27FC236}">
                <a16:creationId xmlns:a16="http://schemas.microsoft.com/office/drawing/2014/main" id="{96631020-2AF3-4C62-8417-7199E423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769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规则实现位置：app/decision/ 与 app/tools/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079478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d50851e3b8427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1" name="accent-19">
            <a:extLst xmlns:a="http://schemas.openxmlformats.org/drawingml/2006/main">
              <a:ext uri="{FF2B5EF4-FFF2-40B4-BE49-F238E27FC236}">
                <a16:creationId xmlns:a16="http://schemas.microsoft.com/office/drawing/2014/main" id="{9252AB11-52A4-43F1-8E9D-4555427C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A12778CE-F9FB-4D76-A8D8-21498884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契约驱动的工程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19">
            <a:extLst xmlns:a="http://schemas.openxmlformats.org/drawingml/2006/main">
              <a:ext uri="{FF2B5EF4-FFF2-40B4-BE49-F238E27FC236}">
                <a16:creationId xmlns:a16="http://schemas.microsoft.com/office/drawing/2014/main" id="{C0455FA3-B844-4607-8874-2F62BA38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一份 OpenAPI 契约是唯一真源，前后端按同一份定义实现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C82D16A5-7173-475A-82BF-CC46FF8F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19">
            <a:extLst xmlns:a="http://schemas.openxmlformats.org/drawingml/2006/main">
              <a:ext uri="{FF2B5EF4-FFF2-40B4-BE49-F238E27FC236}">
                <a16:creationId xmlns:a16="http://schemas.microsoft.com/office/drawing/2014/main" id="{63F5332C-84E5-4294-A9A7-39CAD2AA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19">
            <a:extLst xmlns:a="http://schemas.openxmlformats.org/drawingml/2006/main">
              <a:ext uri="{FF2B5EF4-FFF2-40B4-BE49-F238E27FC236}">
                <a16:creationId xmlns:a16="http://schemas.microsoft.com/office/drawing/2014/main" id="{096C40BB-66A6-4D20-852B-7B7479CA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19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contract-center">
            <a:extLst xmlns:a="http://schemas.openxmlformats.org/drawingml/2006/main">
              <a:ext uri="{FF2B5EF4-FFF2-40B4-BE49-F238E27FC236}">
                <a16:creationId xmlns:a16="http://schemas.microsoft.com/office/drawing/2014/main" id="{EBB91A69-09FC-4C4F-B757-7B28D800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ract-center-title">
            <a:extLst xmlns:a="http://schemas.openxmlformats.org/drawingml/2006/main">
              <a:ext uri="{FF2B5EF4-FFF2-40B4-BE49-F238E27FC236}">
                <a16:creationId xmlns:a16="http://schemas.microsoft.com/office/drawing/2014/main" id="{9FEA7D30-A982-4B87-BBBC-0708CDCC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28900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OpenAPI 契约</a:t>
            </a:r>
            <a:endParaRPr sz="225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contract-center-copy">
            <a:extLst xmlns:a="http://schemas.openxmlformats.org/drawingml/2006/main">
              <a:ext uri="{FF2B5EF4-FFF2-40B4-BE49-F238E27FC236}">
                <a16:creationId xmlns:a16="http://schemas.microsoft.com/office/drawing/2014/main" id="{9E5F4A5F-F90F-401A-B7F8-DFC71036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194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BFDBF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BFDBFE"/>
                </a:solidFill>
                <a:latin typeface="Noto Sans SC"/>
                <a:ea typeface="Noto Sans SC"/>
                <a:cs typeface="Noto Sans SC"/>
              </a:rPr>
              <a:t>contracts/openapi.json</a:t>
            </a:r>
            <a:endParaRPr sz="1350" b="0">
              <a:solidFill>
                <a:srgbClr val="BFDBFE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contract-center-version">
            <a:extLst xmlns:a="http://schemas.openxmlformats.org/drawingml/2006/main">
              <a:ext uri="{FF2B5EF4-FFF2-40B4-BE49-F238E27FC236}">
                <a16:creationId xmlns:a16="http://schemas.microsoft.com/office/drawing/2014/main" id="{84FC42E7-6760-459B-8BA8-2B57D4A4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004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93C5F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93C5FD"/>
                </a:solidFill>
                <a:latin typeface="Noto Sans SC"/>
                <a:ea typeface="Noto Sans SC"/>
                <a:cs typeface="Noto Sans SC"/>
              </a:rPr>
              <a:t>api-contract-v0.3</a:t>
            </a:r>
            <a:endParaRPr sz="1275" b="1">
              <a:solidFill>
                <a:srgbClr val="93C5F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contract-front">
            <a:extLst xmlns:a="http://schemas.openxmlformats.org/drawingml/2006/main">
              <a:ext uri="{FF2B5EF4-FFF2-40B4-BE49-F238E27FC236}">
                <a16:creationId xmlns:a16="http://schemas.microsoft.com/office/drawing/2014/main" id="{62C322B3-D95D-4FBD-BAE2-EE75CF8C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7813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contract-front-title">
            <a:extLst xmlns:a="http://schemas.openxmlformats.org/drawingml/2006/main">
              <a:ext uri="{FF2B5EF4-FFF2-40B4-BE49-F238E27FC236}">
                <a16:creationId xmlns:a16="http://schemas.microsoft.com/office/drawing/2014/main" id="{2226D71A-81AE-454C-83AC-5DA2C905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前端镜像</a:t>
            </a:r>
            <a:endParaRPr sz="18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contract-front-copy">
            <a:extLst xmlns:a="http://schemas.openxmlformats.org/drawingml/2006/main">
              <a:ext uri="{FF2B5EF4-FFF2-40B4-BE49-F238E27FC236}">
                <a16:creationId xmlns:a16="http://schemas.microsoft.com/office/drawing/2014/main" id="{27D9E950-3D2C-46FC-B2CE-A572F38D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与真源逐字节一致</a:t>
            </a:r>
            <a:endParaRPr sz="135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contract-back">
            <a:extLst xmlns:a="http://schemas.openxmlformats.org/drawingml/2006/main">
              <a:ext uri="{FF2B5EF4-FFF2-40B4-BE49-F238E27FC236}">
                <a16:creationId xmlns:a16="http://schemas.microsoft.com/office/drawing/2014/main" id="{D343A143-D528-40F8-AB96-1015B78D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7813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contract-back-title">
            <a:extLst xmlns:a="http://schemas.openxmlformats.org/drawingml/2006/main">
              <a:ext uri="{FF2B5EF4-FFF2-40B4-BE49-F238E27FC236}">
                <a16:creationId xmlns:a16="http://schemas.microsoft.com/office/drawing/2014/main" id="{2FA5E747-0006-4BBB-8382-6CE078F3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后端实现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contract-back-copy">
            <a:extLst xmlns:a="http://schemas.openxmlformats.org/drawingml/2006/main">
              <a:ext uri="{FF2B5EF4-FFF2-40B4-BE49-F238E27FC236}">
                <a16:creationId xmlns:a16="http://schemas.microsoft.com/office/drawing/2014/main" id="{E24AD5E2-7CB4-4778-BDA8-A66DF5F3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请求头校验契约版本</a:t>
            </a:r>
            <a:endParaRPr sz="1350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contract-left-line">
            <a:extLst xmlns:a="http://schemas.openxmlformats.org/drawingml/2006/main">
              <a:ext uri="{FF2B5EF4-FFF2-40B4-BE49-F238E27FC236}">
                <a16:creationId xmlns:a16="http://schemas.microsoft.com/office/drawing/2014/main" id="{0D175402-ECB1-49F0-9C80-1B4EB3A1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90875"/>
            <a:ext cx="59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8" name="contract-right-line">
            <a:extLst xmlns:a="http://schemas.openxmlformats.org/drawingml/2006/main">
              <a:ext uri="{FF2B5EF4-FFF2-40B4-BE49-F238E27FC236}">
                <a16:creationId xmlns:a16="http://schemas.microsoft.com/office/drawing/2014/main" id="{64C18716-FA6B-4FE4-B9CD-BCCC7AB4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59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19" name="contract-stats">
            <a:extLst xmlns:a="http://schemas.openxmlformats.org/drawingml/2006/main">
              <a:ext uri="{FF2B5EF4-FFF2-40B4-BE49-F238E27FC236}">
                <a16:creationId xmlns:a16="http://schemas.microsoft.com/office/drawing/2014/main" id="{A9D07714-B926-4E0D-8748-2941BB58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8305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ntract-stat-value-0">
            <a:extLst xmlns:a="http://schemas.openxmlformats.org/drawingml/2006/main">
              <a:ext uri="{FF2B5EF4-FFF2-40B4-BE49-F238E27FC236}">
                <a16:creationId xmlns:a16="http://schemas.microsoft.com/office/drawing/2014/main" id="{D4688F38-FF29-4A3D-A5DD-38D4C8A0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196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39</a:t>
            </a:r>
            <a:endParaRPr sz="202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contract-stat-label-0">
            <a:extLst xmlns:a="http://schemas.openxmlformats.org/drawingml/2006/main">
              <a:ext uri="{FF2B5EF4-FFF2-40B4-BE49-F238E27FC236}">
                <a16:creationId xmlns:a16="http://schemas.microsoft.com/office/drawing/2014/main" id="{530FF72D-0DCE-4BB2-A76E-39125A2C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38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端点</a:t>
            </a:r>
            <a:endParaRPr sz="10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contract-stat-value-1">
            <a:extLst xmlns:a="http://schemas.openxmlformats.org/drawingml/2006/main">
              <a:ext uri="{FF2B5EF4-FFF2-40B4-BE49-F238E27FC236}">
                <a16:creationId xmlns:a16="http://schemas.microsoft.com/office/drawing/2014/main" id="{C35BA3D8-D2BE-4717-B4A3-8E719B4C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196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44</a:t>
            </a:r>
            <a:endParaRPr sz="202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contract-stat-label-1">
            <a:extLst xmlns:a="http://schemas.openxmlformats.org/drawingml/2006/main">
              <a:ext uri="{FF2B5EF4-FFF2-40B4-BE49-F238E27FC236}">
                <a16:creationId xmlns:a16="http://schemas.microsoft.com/office/drawing/2014/main" id="{FD784A63-8C34-419D-98E1-CD7D25BE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38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操作</a:t>
            </a:r>
            <a:endParaRPr sz="10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contract-stat-value-2">
            <a:extLst xmlns:a="http://schemas.openxmlformats.org/drawingml/2006/main">
              <a:ext uri="{FF2B5EF4-FFF2-40B4-BE49-F238E27FC236}">
                <a16:creationId xmlns:a16="http://schemas.microsoft.com/office/drawing/2014/main" id="{4BE003AA-D53E-4D76-B302-7D1336DC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8196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64</a:t>
            </a:r>
            <a:endParaRPr sz="202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contract-stat-label-2">
            <a:extLst xmlns:a="http://schemas.openxmlformats.org/drawingml/2006/main">
              <a:ext uri="{FF2B5EF4-FFF2-40B4-BE49-F238E27FC236}">
                <a16:creationId xmlns:a16="http://schemas.microsoft.com/office/drawing/2014/main" id="{6474F619-E492-4482-BE98-06EC716A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38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schema</a:t>
            </a:r>
            <a:endParaRPr sz="10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contract-stat-value-3">
            <a:extLst xmlns:a="http://schemas.openxmlformats.org/drawingml/2006/main">
              <a:ext uri="{FF2B5EF4-FFF2-40B4-BE49-F238E27FC236}">
                <a16:creationId xmlns:a16="http://schemas.microsoft.com/office/drawing/2014/main" id="{CF009961-0F16-47CB-899C-C4526B8D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15</a:t>
            </a:r>
            <a:endParaRPr sz="202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contract-stat-label-3">
            <a:extLst xmlns:a="http://schemas.openxmlformats.org/drawingml/2006/main">
              <a:ext uri="{FF2B5EF4-FFF2-40B4-BE49-F238E27FC236}">
                <a16:creationId xmlns:a16="http://schemas.microsoft.com/office/drawing/2014/main" id="{F63883C4-AE6C-4F70-991A-5F7D343F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38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错误码</a:t>
            </a:r>
            <a:endParaRPr sz="10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contract-stat-value-4">
            <a:extLst xmlns:a="http://schemas.openxmlformats.org/drawingml/2006/main">
              <a:ext uri="{FF2B5EF4-FFF2-40B4-BE49-F238E27FC236}">
                <a16:creationId xmlns:a16="http://schemas.microsoft.com/office/drawing/2014/main" id="{0161C201-1EB8-4947-BC4E-765B7516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1965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130,731 B</a:t>
            </a:r>
            <a:endParaRPr sz="20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contract-stat-label-4">
            <a:extLst xmlns:a="http://schemas.openxmlformats.org/drawingml/2006/main">
              <a:ext uri="{FF2B5EF4-FFF2-40B4-BE49-F238E27FC236}">
                <a16:creationId xmlns:a16="http://schemas.microsoft.com/office/drawing/2014/main" id="{7E601DAD-13B5-4B6F-BDAD-F8EA4725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387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契约字节数</a:t>
            </a:r>
            <a:endParaRPr sz="10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contract-gates">
            <a:extLst xmlns:a="http://schemas.openxmlformats.org/drawingml/2006/main">
              <a:ext uri="{FF2B5EF4-FFF2-40B4-BE49-F238E27FC236}">
                <a16:creationId xmlns:a16="http://schemas.microsoft.com/office/drawing/2014/main" id="{6112B960-23EF-4CC9-8288-82557FFC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48350"/>
            <a:ext cx="849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三道自动闸门：前端镜像校验 · 后端实现校验 · 契约版本校验</a:t>
            </a:r>
            <a:endParaRPr sz="12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2093170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f459b74fd4c1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8" name="accent-20">
            <a:extLst xmlns:a="http://schemas.openxmlformats.org/drawingml/2006/main">
              <a:ext uri="{FF2B5EF4-FFF2-40B4-BE49-F238E27FC236}">
                <a16:creationId xmlns:a16="http://schemas.microsoft.com/office/drawing/2014/main" id="{B6B1F1A4-9B2D-44D5-BCB8-8EED0E9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45EB4198-E76F-43C6-98F8-A14D73C3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鸿蒙特性集成 7 项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20">
            <a:extLst xmlns:a="http://schemas.openxmlformats.org/drawingml/2006/main">
              <a:ext uri="{FF2B5EF4-FFF2-40B4-BE49-F238E27FC236}">
                <a16:creationId xmlns:a16="http://schemas.microsoft.com/office/drawing/2014/main" id="{761B41F4-DC80-4183-9E91-33953E05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七项能力均位于主链路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20">
            <a:extLst xmlns:a="http://schemas.openxmlformats.org/drawingml/2006/main">
              <a:ext uri="{FF2B5EF4-FFF2-40B4-BE49-F238E27FC236}">
                <a16:creationId xmlns:a16="http://schemas.microsoft.com/office/drawing/2014/main" id="{E0230B75-1E23-4989-AE31-E2A96C3B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20">
            <a:extLst xmlns:a="http://schemas.openxmlformats.org/drawingml/2006/main">
              <a:ext uri="{FF2B5EF4-FFF2-40B4-BE49-F238E27FC236}">
                <a16:creationId xmlns:a16="http://schemas.microsoft.com/office/drawing/2014/main" id="{A4F3C1DF-9BF2-4A5F-A1D9-09EC9ACD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20">
            <a:extLst xmlns:a="http://schemas.openxmlformats.org/drawingml/2006/main">
              <a:ext uri="{FF2B5EF4-FFF2-40B4-BE49-F238E27FC236}">
                <a16:creationId xmlns:a16="http://schemas.microsoft.com/office/drawing/2014/main" id="{C9A17D43-17D8-4520-AC44-541E0074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20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harmony-card-0">
            <a:extLst xmlns:a="http://schemas.openxmlformats.org/drawingml/2006/main">
              <a:ext uri="{FF2B5EF4-FFF2-40B4-BE49-F238E27FC236}">
                <a16:creationId xmlns:a16="http://schemas.microsoft.com/office/drawing/2014/main" id="{EFBB5FE5-5EB4-4B5C-989B-092A3589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4193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harmony-index-0">
            <a:extLst xmlns:a="http://schemas.openxmlformats.org/drawingml/2006/main">
              <a:ext uri="{FF2B5EF4-FFF2-40B4-BE49-F238E27FC236}">
                <a16:creationId xmlns:a16="http://schemas.microsoft.com/office/drawing/2014/main" id="{608214F5-0520-4E64-A2C9-5D3BC29C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7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harmony-title-0">
            <a:extLst xmlns:a="http://schemas.openxmlformats.org/drawingml/2006/main">
              <a:ext uri="{FF2B5EF4-FFF2-40B4-BE49-F238E27FC236}">
                <a16:creationId xmlns:a16="http://schemas.microsoft.com/office/drawing/2014/main" id="{CA9C8C0A-6C34-423D-B0EC-BD5BB8EF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431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服务卡片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harmony-copy-0">
            <a:extLst xmlns:a="http://schemas.openxmlformats.org/drawingml/2006/main">
              <a:ext uri="{FF2B5EF4-FFF2-40B4-BE49-F238E27FC236}">
                <a16:creationId xmlns:a16="http://schemas.microsoft.com/office/drawing/2014/main" id="{FF087A6C-30A5-4379-BD6A-4B530C12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桌面入口快速唤起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harmony-card-1">
            <a:extLst xmlns:a="http://schemas.openxmlformats.org/drawingml/2006/main">
              <a:ext uri="{FF2B5EF4-FFF2-40B4-BE49-F238E27FC236}">
                <a16:creationId xmlns:a16="http://schemas.microsoft.com/office/drawing/2014/main" id="{37E3994E-5449-406A-A63C-8E9B2380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71650"/>
            <a:ext cx="24193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harmony-index-1">
            <a:extLst xmlns:a="http://schemas.openxmlformats.org/drawingml/2006/main">
              <a:ext uri="{FF2B5EF4-FFF2-40B4-BE49-F238E27FC236}">
                <a16:creationId xmlns:a16="http://schemas.microsoft.com/office/drawing/2014/main" id="{59E3BBCE-5726-48A2-9EDA-2852531D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7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harmony-title-1">
            <a:extLst xmlns:a="http://schemas.openxmlformats.org/drawingml/2006/main">
              <a:ext uri="{FF2B5EF4-FFF2-40B4-BE49-F238E27FC236}">
                <a16:creationId xmlns:a16="http://schemas.microsoft.com/office/drawing/2014/main" id="{2A24C134-2C02-47B9-8976-1CABE5FA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小艺意图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harmony-copy-1">
            <a:extLst xmlns:a="http://schemas.openxmlformats.org/drawingml/2006/main">
              <a:ext uri="{FF2B5EF4-FFF2-40B4-BE49-F238E27FC236}">
                <a16:creationId xmlns:a16="http://schemas.microsoft.com/office/drawing/2014/main" id="{D9A4FF93-6819-464B-AE08-4EE482E6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说一句话开始专注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harmony-card-2">
            <a:extLst xmlns:a="http://schemas.openxmlformats.org/drawingml/2006/main">
              <a:ext uri="{FF2B5EF4-FFF2-40B4-BE49-F238E27FC236}">
                <a16:creationId xmlns:a16="http://schemas.microsoft.com/office/drawing/2014/main" id="{EB8F5CC4-0D2B-4EA5-A871-9B2F2F1D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71650"/>
            <a:ext cx="24193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harmony-index-2">
            <a:extLst xmlns:a="http://schemas.openxmlformats.org/drawingml/2006/main">
              <a:ext uri="{FF2B5EF4-FFF2-40B4-BE49-F238E27FC236}">
                <a16:creationId xmlns:a16="http://schemas.microsoft.com/office/drawing/2014/main" id="{5F0F9DE3-E9FC-4308-A5FB-78944D8B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7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harmony-title-2">
            <a:extLst xmlns:a="http://schemas.openxmlformats.org/drawingml/2006/main">
              <a:ext uri="{FF2B5EF4-FFF2-40B4-BE49-F238E27FC236}">
                <a16:creationId xmlns:a16="http://schemas.microsoft.com/office/drawing/2014/main" id="{FFEDDE18-6AD7-40C7-8950-18C27D3C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431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本地通知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harmony-copy-2">
            <a:extLst xmlns:a="http://schemas.openxmlformats.org/drawingml/2006/main">
              <a:ext uri="{FF2B5EF4-FFF2-40B4-BE49-F238E27FC236}">
                <a16:creationId xmlns:a16="http://schemas.microsoft.com/office/drawing/2014/main" id="{74B7589F-2EC1-4DBB-BD12-7CFFABD9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主动提醒计划变化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harmony-card-3">
            <a:extLst xmlns:a="http://schemas.openxmlformats.org/drawingml/2006/main">
              <a:ext uri="{FF2B5EF4-FFF2-40B4-BE49-F238E27FC236}">
                <a16:creationId xmlns:a16="http://schemas.microsoft.com/office/drawing/2014/main" id="{C8C04281-8A3C-4531-ACD8-776F21DC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24193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harmony-index-3">
            <a:extLst xmlns:a="http://schemas.openxmlformats.org/drawingml/2006/main">
              <a:ext uri="{FF2B5EF4-FFF2-40B4-BE49-F238E27FC236}">
                <a16:creationId xmlns:a16="http://schemas.microsoft.com/office/drawing/2014/main" id="{0A4953F9-9E69-4F5C-8ECB-C3350CF1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43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04</a:t>
            </a:r>
            <a:endParaRPr sz="17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harmony-title-3">
            <a:extLst xmlns:a="http://schemas.openxmlformats.org/drawingml/2006/main">
              <a:ext uri="{FF2B5EF4-FFF2-40B4-BE49-F238E27FC236}">
                <a16:creationId xmlns:a16="http://schemas.microsoft.com/office/drawing/2014/main" id="{9F4BBC61-95A5-4E54-A9BB-CADFF6B6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431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语音输入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harmony-copy-3">
            <a:extLst xmlns:a="http://schemas.openxmlformats.org/drawingml/2006/main">
              <a:ext uri="{FF2B5EF4-FFF2-40B4-BE49-F238E27FC236}">
                <a16:creationId xmlns:a16="http://schemas.microsoft.com/office/drawing/2014/main" id="{2F29D283-2A74-4E30-A16E-22BF95EE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降低记录与操作成本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harmony-card-4">
            <a:extLst xmlns:a="http://schemas.openxmlformats.org/drawingml/2006/main">
              <a:ext uri="{FF2B5EF4-FFF2-40B4-BE49-F238E27FC236}">
                <a16:creationId xmlns:a16="http://schemas.microsoft.com/office/drawing/2014/main" id="{40D6FAC1-B878-4A44-A43D-B6D3F413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193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harmony-index-4">
            <a:extLst xmlns:a="http://schemas.openxmlformats.org/drawingml/2006/main">
              <a:ext uri="{FF2B5EF4-FFF2-40B4-BE49-F238E27FC236}">
                <a16:creationId xmlns:a16="http://schemas.microsoft.com/office/drawing/2014/main" id="{4F96267F-BC50-4317-BBFB-4E7DBB5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05</a:t>
            </a:r>
            <a:endParaRPr sz="17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harmony-title-4">
            <a:extLst xmlns:a="http://schemas.openxmlformats.org/drawingml/2006/main">
              <a:ext uri="{FF2B5EF4-FFF2-40B4-BE49-F238E27FC236}">
                <a16:creationId xmlns:a16="http://schemas.microsoft.com/office/drawing/2014/main" id="{82951AD7-832C-4E9D-8633-77EFD2B2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09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华为账号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harmony-copy-4">
            <a:extLst xmlns:a="http://schemas.openxmlformats.org/drawingml/2006/main">
              <a:ext uri="{FF2B5EF4-FFF2-40B4-BE49-F238E27FC236}">
                <a16:creationId xmlns:a16="http://schemas.microsoft.com/office/drawing/2014/main" id="{C80941F3-5C7D-466C-B9BD-732A6A6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一键登录与身份衔接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harmony-card-5">
            <a:extLst xmlns:a="http://schemas.openxmlformats.org/drawingml/2006/main">
              <a:ext uri="{FF2B5EF4-FFF2-40B4-BE49-F238E27FC236}">
                <a16:creationId xmlns:a16="http://schemas.microsoft.com/office/drawing/2014/main" id="{BF3F2DAB-DD04-4ECA-B8B6-A021535C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38500"/>
            <a:ext cx="24193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harmony-index-5">
            <a:extLst xmlns:a="http://schemas.openxmlformats.org/drawingml/2006/main">
              <a:ext uri="{FF2B5EF4-FFF2-40B4-BE49-F238E27FC236}">
                <a16:creationId xmlns:a16="http://schemas.microsoft.com/office/drawing/2014/main" id="{FFF08CD2-6515-42D8-8D47-3BBB5A84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09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06</a:t>
            </a:r>
            <a:endParaRPr sz="17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harmony-title-5">
            <a:extLst xmlns:a="http://schemas.openxmlformats.org/drawingml/2006/main">
              <a:ext uri="{FF2B5EF4-FFF2-40B4-BE49-F238E27FC236}">
                <a16:creationId xmlns:a16="http://schemas.microsoft.com/office/drawing/2014/main" id="{F23F0321-1A6D-4BA7-AF7E-B24CA34D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09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令牌加密落盘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harmony-copy-5">
            <a:extLst xmlns:a="http://schemas.openxmlformats.org/drawingml/2006/main">
              <a:ext uri="{FF2B5EF4-FFF2-40B4-BE49-F238E27FC236}">
                <a16:creationId xmlns:a16="http://schemas.microsoft.com/office/drawing/2014/main" id="{E0076DE4-4399-4D1B-9A58-A690D9A6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AES-256-GCM + 资产库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harmony-card-6">
            <a:extLst xmlns:a="http://schemas.openxmlformats.org/drawingml/2006/main">
              <a:ext uri="{FF2B5EF4-FFF2-40B4-BE49-F238E27FC236}">
                <a16:creationId xmlns:a16="http://schemas.microsoft.com/office/drawing/2014/main" id="{D8B112F9-B06A-4039-856B-C56FB6B1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24193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harmony-index-6">
            <a:extLst xmlns:a="http://schemas.openxmlformats.org/drawingml/2006/main">
              <a:ext uri="{FF2B5EF4-FFF2-40B4-BE49-F238E27FC236}">
                <a16:creationId xmlns:a16="http://schemas.microsoft.com/office/drawing/2014/main" id="{FD35D487-6807-450B-B0A0-AA376A3F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07</a:t>
            </a:r>
            <a:endParaRPr sz="17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harmony-title-6">
            <a:extLst xmlns:a="http://schemas.openxmlformats.org/drawingml/2006/main">
              <a:ext uri="{FF2B5EF4-FFF2-40B4-BE49-F238E27FC236}">
                <a16:creationId xmlns:a16="http://schemas.microsoft.com/office/drawing/2014/main" id="{A2E8801E-B423-4F35-9942-31C6C16A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大屏适配</a:t>
            </a:r>
            <a:endParaRPr sz="15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harmony-copy-6">
            <a:extLst xmlns:a="http://schemas.openxmlformats.org/drawingml/2006/main">
              <a:ext uri="{FF2B5EF4-FFF2-40B4-BE49-F238E27FC236}">
                <a16:creationId xmlns:a16="http://schemas.microsoft.com/office/drawing/2014/main" id="{32E6BA91-7660-436D-9EDC-245AC8AD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243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断点布局 + 限宽居中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5" name="harmony-distributed">
            <a:extLst xmlns:a="http://schemas.openxmlformats.org/drawingml/2006/main">
              <a:ext uri="{FF2B5EF4-FFF2-40B4-BE49-F238E27FC236}">
                <a16:creationId xmlns:a16="http://schemas.microsoft.com/office/drawing/2014/main" id="{F7116440-DA3A-4FB3-B7EC-A1124E26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43450"/>
            <a:ext cx="46863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F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armony-distributed-title">
            <a:extLst xmlns:a="http://schemas.openxmlformats.org/drawingml/2006/main">
              <a:ext uri="{FF2B5EF4-FFF2-40B4-BE49-F238E27FC236}">
                <a16:creationId xmlns:a16="http://schemas.microsoft.com/office/drawing/2014/main" id="{B9CE1B5D-E9BE-40C9-94AF-CBE1FD5E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91100"/>
            <a:ext cx="411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全场景分布式接续</a:t>
            </a:r>
            <a:endParaRPr sz="1875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7" name="harmony-distributed-copy">
            <a:extLst xmlns:a="http://schemas.openxmlformats.org/drawingml/2006/main">
              <a:ext uri="{FF2B5EF4-FFF2-40B4-BE49-F238E27FC236}">
                <a16:creationId xmlns:a16="http://schemas.microsoft.com/office/drawing/2014/main" id="{DFED6826-C235-405C-BA67-2A22D446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673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DBEAF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DBEAFE"/>
                </a:solidFill>
                <a:latin typeface="Noto Sans SC"/>
                <a:ea typeface="Noto Sans SC"/>
                <a:cs typeface="Noto Sans SC"/>
              </a:rPr>
              <a:t>手机开始，平板接着做，同一专注任务跨设备延续。</a:t>
            </a:r>
            <a:endParaRPr sz="1275" b="0">
              <a:solidFill>
                <a:srgbClr val="DBEAFE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1722081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cd514d23541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1" name="accent-21">
            <a:extLst xmlns:a="http://schemas.openxmlformats.org/drawingml/2006/main">
              <a:ext uri="{FF2B5EF4-FFF2-40B4-BE49-F238E27FC236}">
                <a16:creationId xmlns:a16="http://schemas.microsoft.com/office/drawing/2014/main" id="{C22194D0-3170-429A-80DE-A4D4DCFC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A960D3B1-E913-460B-9B7B-F24915CD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工程质量：可验证的交付基线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21">
            <a:extLst xmlns:a="http://schemas.openxmlformats.org/drawingml/2006/main">
              <a:ext uri="{FF2B5EF4-FFF2-40B4-BE49-F238E27FC236}">
                <a16:creationId xmlns:a16="http://schemas.microsoft.com/office/drawing/2014/main" id="{8CC0180C-BD8A-4C9D-962D-452C0BB8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单元测试、HTTP 联调、契约核对、代码审计和大屏布局均可复查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21">
            <a:extLst xmlns:a="http://schemas.openxmlformats.org/drawingml/2006/main">
              <a:ext uri="{FF2B5EF4-FFF2-40B4-BE49-F238E27FC236}">
                <a16:creationId xmlns:a16="http://schemas.microsoft.com/office/drawing/2014/main" id="{C577DA6F-1338-495D-A10A-A6D4ED22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21">
            <a:extLst xmlns:a="http://schemas.openxmlformats.org/drawingml/2006/main">
              <a:ext uri="{FF2B5EF4-FFF2-40B4-BE49-F238E27FC236}">
                <a16:creationId xmlns:a16="http://schemas.microsoft.com/office/drawing/2014/main" id="{AF480AE8-7BA5-4F09-9F94-655CAE0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21">
            <a:extLst xmlns:a="http://schemas.openxmlformats.org/drawingml/2006/main">
              <a:ext uri="{FF2B5EF4-FFF2-40B4-BE49-F238E27FC236}">
                <a16:creationId xmlns:a16="http://schemas.microsoft.com/office/drawing/2014/main" id="{635BF601-2EC5-4E22-8B96-0182D917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21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quality-metric-0-bg">
            <a:extLst xmlns:a="http://schemas.openxmlformats.org/drawingml/2006/main">
              <a:ext uri="{FF2B5EF4-FFF2-40B4-BE49-F238E27FC236}">
                <a16:creationId xmlns:a16="http://schemas.microsoft.com/office/drawing/2014/main" id="{8A665F3A-7494-49E8-9A93-EF68D76D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53365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8" name="quality-metric-0-value">
            <a:extLst xmlns:a="http://schemas.openxmlformats.org/drawingml/2006/main">
              <a:ext uri="{FF2B5EF4-FFF2-40B4-BE49-F238E27FC236}">
                <a16:creationId xmlns:a16="http://schemas.microsoft.com/office/drawing/2014/main" id="{0E090CAC-8F77-40F3-BFA5-C4B556C5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388</a:t>
            </a:r>
            <a:endParaRPr sz="360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quality-metric-0-label">
            <a:extLst xmlns:a="http://schemas.openxmlformats.org/drawingml/2006/main">
              <a:ext uri="{FF2B5EF4-FFF2-40B4-BE49-F238E27FC236}">
                <a16:creationId xmlns:a16="http://schemas.microsoft.com/office/drawing/2014/main" id="{D9A5709D-6F10-4540-9431-366CC6AC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后端单元测试全绿</a:t>
            </a:r>
            <a:endParaRPr sz="120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quality-note-0">
            <a:extLst xmlns:a="http://schemas.openxmlformats.org/drawingml/2006/main">
              <a:ext uri="{FF2B5EF4-FFF2-40B4-BE49-F238E27FC236}">
                <a16:creationId xmlns:a16="http://schemas.microsoft.com/office/drawing/2014/main" id="{B2565429-9115-4EED-B9FC-3A7E4D95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251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0 failed / 0 error / 0 skipped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quality-metric-1-bg">
            <a:extLst xmlns:a="http://schemas.openxmlformats.org/drawingml/2006/main">
              <a:ext uri="{FF2B5EF4-FFF2-40B4-BE49-F238E27FC236}">
                <a16:creationId xmlns:a16="http://schemas.microsoft.com/office/drawing/2014/main" id="{D94E81C5-1DB4-4100-B20B-02E064BA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57400"/>
            <a:ext cx="253365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quality-metric-1-value">
            <a:extLst xmlns:a="http://schemas.openxmlformats.org/drawingml/2006/main">
              <a:ext uri="{FF2B5EF4-FFF2-40B4-BE49-F238E27FC236}">
                <a16:creationId xmlns:a16="http://schemas.microsoft.com/office/drawing/2014/main" id="{BA54A3F5-2999-4651-83C5-7E8795D6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98 / 98</a:t>
            </a:r>
            <a:endParaRPr sz="28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quality-metric-1-label">
            <a:extLst xmlns:a="http://schemas.openxmlformats.org/drawingml/2006/main">
              <a:ext uri="{FF2B5EF4-FFF2-40B4-BE49-F238E27FC236}">
                <a16:creationId xmlns:a16="http://schemas.microsoft.com/office/drawing/2014/main" id="{D1E55EB0-A4B1-4795-9089-9FA5CBE9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HTTP 联调通过率 100%</a:t>
            </a:r>
            <a:endParaRPr sz="120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quality-note-1">
            <a:extLst xmlns:a="http://schemas.openxmlformats.org/drawingml/2006/main">
              <a:ext uri="{FF2B5EF4-FFF2-40B4-BE49-F238E27FC236}">
                <a16:creationId xmlns:a16="http://schemas.microsoft.com/office/drawing/2014/main" id="{2A05B17F-C3E9-4320-B0C8-C3CFA8A6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44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退出码 0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quality-metric-2-bg">
            <a:extLst xmlns:a="http://schemas.openxmlformats.org/drawingml/2006/main">
              <a:ext uri="{FF2B5EF4-FFF2-40B4-BE49-F238E27FC236}">
                <a16:creationId xmlns:a16="http://schemas.microsoft.com/office/drawing/2014/main" id="{9D1900FC-B480-4511-ACC8-F44A76FA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57400"/>
            <a:ext cx="253365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quality-metric-2-value">
            <a:extLst xmlns:a="http://schemas.openxmlformats.org/drawingml/2006/main">
              <a:ext uri="{FF2B5EF4-FFF2-40B4-BE49-F238E27FC236}">
                <a16:creationId xmlns:a16="http://schemas.microsoft.com/office/drawing/2014/main" id="{B84E6BBA-4E74-4D72-9F04-7C919990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34</a:t>
            </a:r>
            <a:endParaRPr sz="360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quality-metric-2-label">
            <a:extLst xmlns:a="http://schemas.openxmlformats.org/drawingml/2006/main">
              <a:ext uri="{FF2B5EF4-FFF2-40B4-BE49-F238E27FC236}">
                <a16:creationId xmlns:a16="http://schemas.microsoft.com/office/drawing/2014/main" id="{92122BC7-F3E9-4D38-9FE3-A0A08D8D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956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三轮审计发现问题</a:t>
            </a:r>
            <a:endParaRPr sz="120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quality-note-2">
            <a:extLst xmlns:a="http://schemas.openxmlformats.org/drawingml/2006/main">
              <a:ext uri="{FF2B5EF4-FFF2-40B4-BE49-F238E27FC236}">
                <a16:creationId xmlns:a16="http://schemas.microsoft.com/office/drawing/2014/main" id="{D36214F4-7165-438B-84B7-725D7DA2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5085" y="357251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已修复 28 项，含 5 个 P0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quality-metric-3-bg">
            <a:extLst xmlns:a="http://schemas.openxmlformats.org/drawingml/2006/main">
              <a:ext uri="{FF2B5EF4-FFF2-40B4-BE49-F238E27FC236}">
                <a16:creationId xmlns:a16="http://schemas.microsoft.com/office/drawing/2014/main" id="{12B8C623-B20F-4DC3-BB8C-85996DE2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57400"/>
            <a:ext cx="2533650" cy="179070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quality-metric-3-value">
            <a:extLst xmlns:a="http://schemas.openxmlformats.org/drawingml/2006/main">
              <a:ext uri="{FF2B5EF4-FFF2-40B4-BE49-F238E27FC236}">
                <a16:creationId xmlns:a16="http://schemas.microsoft.com/office/drawing/2014/main" id="{8E24F09E-CBD0-47AA-A846-4D29E615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71700"/>
            <a:ext cx="2228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360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7</a:t>
            </a:r>
            <a:endParaRPr sz="360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quality-metric-3-label">
            <a:extLst xmlns:a="http://schemas.openxmlformats.org/drawingml/2006/main">
              <a:ext uri="{FF2B5EF4-FFF2-40B4-BE49-F238E27FC236}">
                <a16:creationId xmlns:a16="http://schemas.microsoft.com/office/drawing/2014/main" id="{F69063A0-56EA-45D0-8455-78475B96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956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鸿蒙特性集成</a:t>
            </a:r>
            <a:endParaRPr sz="120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quality-note-3">
            <a:extLst xmlns:a="http://schemas.openxmlformats.org/drawingml/2006/main">
              <a:ext uri="{FF2B5EF4-FFF2-40B4-BE49-F238E27FC236}">
                <a16:creationId xmlns:a16="http://schemas.microsoft.com/office/drawing/2014/main" id="{6259C60A-FCE7-4630-BB0A-1CF6B74F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70" y="357251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另有全场景分布式接续</a:t>
            </a:r>
            <a:endParaRPr sz="97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quality-extra-value-0">
            <a:extLst xmlns:a="http://schemas.openxmlformats.org/drawingml/2006/main">
              <a:ext uri="{FF2B5EF4-FFF2-40B4-BE49-F238E27FC236}">
                <a16:creationId xmlns:a16="http://schemas.microsoft.com/office/drawing/2014/main" id="{79AAEA4A-936A-4F39-8960-0F2C2E3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21 项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quality-extra-copy-0">
            <a:extLst xmlns:a="http://schemas.openxmlformats.org/drawingml/2006/main">
              <a:ext uri="{FF2B5EF4-FFF2-40B4-BE49-F238E27FC236}">
                <a16:creationId xmlns:a16="http://schemas.microsoft.com/office/drawing/2014/main" id="{003D30D0-947E-4136-B261-BA3AF412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契约声明与实现逐条实跑核对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quality-extra-value-1">
            <a:extLst xmlns:a="http://schemas.openxmlformats.org/drawingml/2006/main">
              <a:ext uri="{FF2B5EF4-FFF2-40B4-BE49-F238E27FC236}">
                <a16:creationId xmlns:a16="http://schemas.microsoft.com/office/drawing/2014/main" id="{DB6F5FA2-8D74-4070-AFD6-A9306128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86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0–8 px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6" name="quality-extra-copy-1">
            <a:extLst xmlns:a="http://schemas.openxmlformats.org/drawingml/2006/main">
              <a:ext uri="{FF2B5EF4-FFF2-40B4-BE49-F238E27FC236}">
                <a16:creationId xmlns:a16="http://schemas.microsoft.com/office/drawing/2014/main" id="{7291B8E5-6221-4D3D-AF60-3ACB6338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162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大屏布局像素级验证偏差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quality-extra-value-2">
            <a:extLst xmlns:a="http://schemas.openxmlformats.org/drawingml/2006/main">
              <a:ext uri="{FF2B5EF4-FFF2-40B4-BE49-F238E27FC236}">
                <a16:creationId xmlns:a16="http://schemas.microsoft.com/office/drawing/2014/main" id="{FAFA6ADC-86BE-4F4D-8578-D63C9D55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2.86 MB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quality-extra-copy-2">
            <a:extLst xmlns:a="http://schemas.openxmlformats.org/drawingml/2006/main">
              <a:ext uri="{FF2B5EF4-FFF2-40B4-BE49-F238E27FC236}">
                <a16:creationId xmlns:a16="http://schemas.microsoft.com/office/drawing/2014/main" id="{27355D19-65FA-4CC8-8745-A295DB3A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ArkTS 全量重编产物，0 编译错误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quality-extra-value-3">
            <a:extLst xmlns:a="http://schemas.openxmlformats.org/drawingml/2006/main">
              <a:ext uri="{FF2B5EF4-FFF2-40B4-BE49-F238E27FC236}">
                <a16:creationId xmlns:a16="http://schemas.microsoft.com/office/drawing/2014/main" id="{915A414E-DEA8-4817-A47A-AFBB4956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863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2,999,329 B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quality-extra-copy-3">
            <a:extLst xmlns:a="http://schemas.openxmlformats.org/drawingml/2006/main">
              <a:ext uri="{FF2B5EF4-FFF2-40B4-BE49-F238E27FC236}">
                <a16:creationId xmlns:a16="http://schemas.microsoft.com/office/drawing/2014/main" id="{91BBA98C-ABBF-4236-AF98-F19B40E8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625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签名 HAP，摘要校验 true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2789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0e5d9d373466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9" name="accent-22">
            <a:extLst xmlns:a="http://schemas.openxmlformats.org/drawingml/2006/main">
              <a:ext uri="{FF2B5EF4-FFF2-40B4-BE49-F238E27FC236}">
                <a16:creationId xmlns:a16="http://schemas.microsoft.com/office/drawing/2014/main" id="{E514207F-9C21-4F14-AD3C-3C1E3514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586067AE-B793-46AF-AAF5-ED8E8F96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可复现的演示基线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22">
            <a:extLst xmlns:a="http://schemas.openxmlformats.org/drawingml/2006/main">
              <a:ext uri="{FF2B5EF4-FFF2-40B4-BE49-F238E27FC236}">
                <a16:creationId xmlns:a16="http://schemas.microsoft.com/office/drawing/2014/main" id="{83303F36-C79F-4DEB-81D2-E671970E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七个关键数值写在一键联调断言里，POST /demo/reset 可随时复位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22">
            <a:extLst xmlns:a="http://schemas.openxmlformats.org/drawingml/2006/main">
              <a:ext uri="{FF2B5EF4-FFF2-40B4-BE49-F238E27FC236}">
                <a16:creationId xmlns:a16="http://schemas.microsoft.com/office/drawing/2014/main" id="{A932E1AE-2019-4B8D-9274-841237EC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22">
            <a:extLst xmlns:a="http://schemas.openxmlformats.org/drawingml/2006/main">
              <a:ext uri="{FF2B5EF4-FFF2-40B4-BE49-F238E27FC236}">
                <a16:creationId xmlns:a16="http://schemas.microsoft.com/office/drawing/2014/main" id="{A42C403D-245F-4F2A-8E75-5CB5F027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22">
            <a:extLst xmlns:a="http://schemas.openxmlformats.org/drawingml/2006/main">
              <a:ext uri="{FF2B5EF4-FFF2-40B4-BE49-F238E27FC236}">
                <a16:creationId xmlns:a16="http://schemas.microsoft.com/office/drawing/2014/main" id="{A6F2772D-C979-4B32-89BA-48A9902E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22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baseline-0-bg">
            <a:extLst xmlns:a="http://schemas.openxmlformats.org/drawingml/2006/main">
              <a:ext uri="{FF2B5EF4-FFF2-40B4-BE49-F238E27FC236}">
                <a16:creationId xmlns:a16="http://schemas.microsoft.com/office/drawing/2014/main" id="{E13426C8-4389-4F2C-A6E7-6C8B359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24765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8" name="baseline-0-value">
            <a:extLst xmlns:a="http://schemas.openxmlformats.org/drawingml/2006/main">
              <a:ext uri="{FF2B5EF4-FFF2-40B4-BE49-F238E27FC236}">
                <a16:creationId xmlns:a16="http://schemas.microsoft.com/office/drawing/2014/main" id="{9FB505C3-5CA6-4B01-B7A5-E03F795E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66.67</a:t>
            </a:r>
            <a:endParaRPr sz="25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baseline-0-label">
            <a:extLst xmlns:a="http://schemas.openxmlformats.org/drawingml/2006/main">
              <a:ext uri="{FF2B5EF4-FFF2-40B4-BE49-F238E27FC236}">
                <a16:creationId xmlns:a16="http://schemas.microsoft.com/office/drawing/2014/main" id="{A0A324EA-66F2-4347-A5F1-7C3D936C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判分 √√×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baseline-1-bg">
            <a:extLst xmlns:a="http://schemas.openxmlformats.org/drawingml/2006/main">
              <a:ext uri="{FF2B5EF4-FFF2-40B4-BE49-F238E27FC236}">
                <a16:creationId xmlns:a16="http://schemas.microsoft.com/office/drawing/2014/main" id="{4ECB0A55-1035-4738-917D-D9366D66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24765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baseline-1-value">
            <a:extLst xmlns:a="http://schemas.openxmlformats.org/drawingml/2006/main">
              <a:ext uri="{FF2B5EF4-FFF2-40B4-BE49-F238E27FC236}">
                <a16:creationId xmlns:a16="http://schemas.microsoft.com/office/drawing/2014/main" id="{1E6745ED-3C84-49B7-8558-10C0CF7E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383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100.0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baseline-1-label">
            <a:extLst xmlns:a="http://schemas.openxmlformats.org/drawingml/2006/main">
              <a:ext uri="{FF2B5EF4-FFF2-40B4-BE49-F238E27FC236}">
                <a16:creationId xmlns:a16="http://schemas.microsoft.com/office/drawing/2014/main" id="{8DA97BA5-7257-457A-9C56-0CB44434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432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全对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baseline-2-bg">
            <a:extLst xmlns:a="http://schemas.openxmlformats.org/drawingml/2006/main">
              <a:ext uri="{FF2B5EF4-FFF2-40B4-BE49-F238E27FC236}">
                <a16:creationId xmlns:a16="http://schemas.microsoft.com/office/drawing/2014/main" id="{4917D69E-2DB8-4EDA-954A-871D8767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24765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baseline-2-value">
            <a:extLst xmlns:a="http://schemas.openxmlformats.org/drawingml/2006/main">
              <a:ext uri="{FF2B5EF4-FFF2-40B4-BE49-F238E27FC236}">
                <a16:creationId xmlns:a16="http://schemas.microsoft.com/office/drawing/2014/main" id="{974D0688-0C77-4DAA-9F94-40442C2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0.0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baseline-2-label">
            <a:extLst xmlns:a="http://schemas.openxmlformats.org/drawingml/2006/main">
              <a:ext uri="{FF2B5EF4-FFF2-40B4-BE49-F238E27FC236}">
                <a16:creationId xmlns:a16="http://schemas.microsoft.com/office/drawing/2014/main" id="{8820B663-3D3E-4111-A0DE-FB4E8A4E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全错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baseline-3-bg">
            <a:extLst xmlns:a="http://schemas.openxmlformats.org/drawingml/2006/main">
              <a:ext uri="{FF2B5EF4-FFF2-40B4-BE49-F238E27FC236}">
                <a16:creationId xmlns:a16="http://schemas.microsoft.com/office/drawing/2014/main" id="{C804C09F-E33B-411E-8FA6-0E50520A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4765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baseline-3-value">
            <a:extLst xmlns:a="http://schemas.openxmlformats.org/drawingml/2006/main">
              <a:ext uri="{FF2B5EF4-FFF2-40B4-BE49-F238E27FC236}">
                <a16:creationId xmlns:a16="http://schemas.microsoft.com/office/drawing/2014/main" id="{422F0E1A-1A4E-4622-9755-1CB44302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42 到 58</a:t>
            </a:r>
            <a:endParaRPr sz="25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baseline-3-label">
            <a:extLst xmlns:a="http://schemas.openxmlformats.org/drawingml/2006/main">
              <a:ext uri="{FF2B5EF4-FFF2-40B4-BE49-F238E27FC236}">
                <a16:creationId xmlns:a16="http://schemas.microsoft.com/office/drawing/2014/main" id="{DDE3D132-8FA0-446C-8FA1-B1BD98C3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掌握度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baseline-4-bg">
            <a:extLst xmlns:a="http://schemas.openxmlformats.org/drawingml/2006/main">
              <a:ext uri="{FF2B5EF4-FFF2-40B4-BE49-F238E27FC236}">
                <a16:creationId xmlns:a16="http://schemas.microsoft.com/office/drawing/2014/main" id="{57CF0927-36D7-4A5F-AF72-D3070E77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32956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baseline-4-value">
            <a:extLst xmlns:a="http://schemas.openxmlformats.org/drawingml/2006/main">
              <a:ext uri="{FF2B5EF4-FFF2-40B4-BE49-F238E27FC236}">
                <a16:creationId xmlns:a16="http://schemas.microsoft.com/office/drawing/2014/main" id="{0BAC4899-1589-4A41-8675-A8732086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[1, 2]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baseline-4-label">
            <a:extLst xmlns:a="http://schemas.openxmlformats.org/drawingml/2006/main">
              <a:ext uri="{FF2B5EF4-FFF2-40B4-BE49-F238E27FC236}">
                <a16:creationId xmlns:a16="http://schemas.microsoft.com/office/drawing/2014/main" id="{F063E1E6-47A7-4163-BC25-523877FE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profileVersion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baseline-5-bg">
            <a:extLst xmlns:a="http://schemas.openxmlformats.org/drawingml/2006/main">
              <a:ext uri="{FF2B5EF4-FFF2-40B4-BE49-F238E27FC236}">
                <a16:creationId xmlns:a16="http://schemas.microsoft.com/office/drawing/2014/main" id="{236E331F-A119-4F64-B4F4-856D0C7D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32956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baseline-5-value">
            <a:extLst xmlns:a="http://schemas.openxmlformats.org/drawingml/2006/main">
              <a:ext uri="{FF2B5EF4-FFF2-40B4-BE49-F238E27FC236}">
                <a16:creationId xmlns:a16="http://schemas.microsoft.com/office/drawing/2014/main" id="{9B533AE3-9A8C-4D5C-9556-7A8A0909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[1, 2]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4" name="baseline-5-label">
            <a:extLst xmlns:a="http://schemas.openxmlformats.org/drawingml/2006/main">
              <a:ext uri="{FF2B5EF4-FFF2-40B4-BE49-F238E27FC236}">
                <a16:creationId xmlns:a16="http://schemas.microsoft.com/office/drawing/2014/main" id="{EAE3F92C-C32B-4570-88C3-ABF93FA5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planVersion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5" name="baseline-6-bg">
            <a:extLst xmlns:a="http://schemas.openxmlformats.org/drawingml/2006/main">
              <a:ext uri="{FF2B5EF4-FFF2-40B4-BE49-F238E27FC236}">
                <a16:creationId xmlns:a16="http://schemas.microsoft.com/office/drawing/2014/main" id="{A566BC91-C2C8-4BDF-882D-84A83DEE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0450"/>
            <a:ext cx="329565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6" name="baseline-6-value">
            <a:extLst xmlns:a="http://schemas.openxmlformats.org/drawingml/2006/main">
              <a:ext uri="{FF2B5EF4-FFF2-40B4-BE49-F238E27FC236}">
                <a16:creationId xmlns:a16="http://schemas.microsoft.com/office/drawing/2014/main" id="{8DED35D2-7E64-4D63-89F9-2646207D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299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[30,30] / [45,15]</a:t>
            </a:r>
            <a:endParaRPr sz="20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baseline-6-label">
            <a:extLst xmlns:a="http://schemas.openxmlformats.org/drawingml/2006/main">
              <a:ext uri="{FF2B5EF4-FFF2-40B4-BE49-F238E27FC236}">
                <a16:creationId xmlns:a16="http://schemas.microsoft.com/office/drawing/2014/main" id="{23427659-5A97-4743-92E5-1B02EF26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计划任务时长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8" name="baseline-source">
            <a:extLst xmlns:a="http://schemas.openxmlformats.org/drawingml/2006/main">
              <a:ext uri="{FF2B5EF4-FFF2-40B4-BE49-F238E27FC236}">
                <a16:creationId xmlns:a16="http://schemas.microsoft.com/office/drawing/2014/main" id="{CCF45454-69A5-4041-8038-2BD64A69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578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来源：evidence/run_summary_2026-09-28_142901.json，最近一次 2026-09-28 14:29，overall PASS。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1087819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ac6597cc6430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2" name="accent-23">
            <a:extLst xmlns:a="http://schemas.openxmlformats.org/drawingml/2006/main">
              <a:ext uri="{FF2B5EF4-FFF2-40B4-BE49-F238E27FC236}">
                <a16:creationId xmlns:a16="http://schemas.microsoft.com/office/drawing/2014/main" id="{BB4240BB-AF9C-4A80-B043-8BE20410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6CA9C89B-4333-4E71-A4DC-0023B696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诚实边界：我们没做什么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23">
            <a:extLst xmlns:a="http://schemas.openxmlformats.org/drawingml/2006/main">
              <a:ext uri="{FF2B5EF4-FFF2-40B4-BE49-F238E27FC236}">
                <a16:creationId xmlns:a16="http://schemas.microsoft.com/office/drawing/2014/main" id="{A9A206F9-C2F2-4782-9996-08EE67BB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23">
            <a:extLst xmlns:a="http://schemas.openxmlformats.org/drawingml/2006/main">
              <a:ext uri="{FF2B5EF4-FFF2-40B4-BE49-F238E27FC236}">
                <a16:creationId xmlns:a16="http://schemas.microsoft.com/office/drawing/2014/main" id="{596F2908-46DF-4F86-A84E-4649DE38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23">
            <a:extLst xmlns:a="http://schemas.openxmlformats.org/drawingml/2006/main">
              <a:ext uri="{FF2B5EF4-FFF2-40B4-BE49-F238E27FC236}">
                <a16:creationId xmlns:a16="http://schemas.microsoft.com/office/drawing/2014/main" id="{A9BCB065-D9F8-4D80-9CFD-07CFE928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23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boundary-dot-0">
            <a:extLst xmlns:a="http://schemas.openxmlformats.org/drawingml/2006/main">
              <a:ext uri="{FF2B5EF4-FFF2-40B4-BE49-F238E27FC236}">
                <a16:creationId xmlns:a16="http://schemas.microsoft.com/office/drawing/2014/main" id="{6F4C4872-B8F0-4C18-A825-3B319FD4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B4530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B45309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975" b="1">
              <a:solidFill>
                <a:srgbClr val="B4530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boundary-title-0">
            <a:extLst xmlns:a="http://schemas.openxmlformats.org/drawingml/2006/main">
              <a:ext uri="{FF2B5EF4-FFF2-40B4-BE49-F238E27FC236}">
                <a16:creationId xmlns:a16="http://schemas.microsoft.com/office/drawing/2014/main" id="{8D05FFCA-04DF-40D3-8E52-004E3793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975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华为账号一键登录尚未做服务端 OpenID 验签</a:t>
            </a:r>
            <a:endParaRPr sz="16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boundary-copy-0">
            <a:extLst xmlns:a="http://schemas.openxmlformats.org/drawingml/2006/main">
              <a:ext uri="{FF2B5EF4-FFF2-40B4-BE49-F238E27FC236}">
                <a16:creationId xmlns:a16="http://schemas.microsoft.com/office/drawing/2014/main" id="{66C90177-A9C4-42E4-BF36-32A5CF4D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75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演示与单机场景可用；生产环境必须补齐，否则存在冒用 openId 的风险。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boundary-line-0">
            <a:extLst xmlns:a="http://schemas.openxmlformats.org/drawingml/2006/main">
              <a:ext uri="{FF2B5EF4-FFF2-40B4-BE49-F238E27FC236}">
                <a16:creationId xmlns:a16="http://schemas.microsoft.com/office/drawing/2014/main" id="{C0715AFD-93C5-42BA-8270-C44E0877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90800"/>
            <a:ext cx="975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1" name="boundary-dot-1">
            <a:extLst xmlns:a="http://schemas.openxmlformats.org/drawingml/2006/main">
              <a:ext uri="{FF2B5EF4-FFF2-40B4-BE49-F238E27FC236}">
                <a16:creationId xmlns:a16="http://schemas.microsoft.com/office/drawing/2014/main" id="{FE91F466-BABA-4AB3-A2BB-3EDE2AFE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9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boundary-title-1">
            <a:extLst xmlns:a="http://schemas.openxmlformats.org/drawingml/2006/main">
              <a:ext uri="{FF2B5EF4-FFF2-40B4-BE49-F238E27FC236}">
                <a16:creationId xmlns:a16="http://schemas.microsoft.com/office/drawing/2014/main" id="{A5E9EEC2-E867-4045-8076-CAE958E9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75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知识库语义重排在当前数据量下未生效</a:t>
            </a:r>
            <a:endParaRPr sz="16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boundary-copy-1">
            <a:extLst xmlns:a="http://schemas.openxmlformats.org/drawingml/2006/main">
              <a:ext uri="{FF2B5EF4-FFF2-40B4-BE49-F238E27FC236}">
                <a16:creationId xmlns:a16="http://schemas.microsoft.com/office/drawing/2014/main" id="{5EA8342A-EE58-4D8A-8F3B-629DF13E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09925"/>
            <a:ext cx="975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会因批量请求超过 embedding 接口上限而静默退回关键词匹配。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boundary-line-1">
            <a:extLst xmlns:a="http://schemas.openxmlformats.org/drawingml/2006/main">
              <a:ext uri="{FF2B5EF4-FFF2-40B4-BE49-F238E27FC236}">
                <a16:creationId xmlns:a16="http://schemas.microsoft.com/office/drawing/2014/main" id="{D7ED443F-549E-4FBD-AA5C-0E8FF72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57600"/>
            <a:ext cx="975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5" name="boundary-dot-2">
            <a:extLst xmlns:a="http://schemas.openxmlformats.org/drawingml/2006/main">
              <a:ext uri="{FF2B5EF4-FFF2-40B4-BE49-F238E27FC236}">
                <a16:creationId xmlns:a16="http://schemas.microsoft.com/office/drawing/2014/main" id="{FA420035-0C7B-4A80-8815-8CB94C88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9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boundary-title-2">
            <a:extLst xmlns:a="http://schemas.openxmlformats.org/drawingml/2006/main">
              <a:ext uri="{FF2B5EF4-FFF2-40B4-BE49-F238E27FC236}">
                <a16:creationId xmlns:a16="http://schemas.microsoft.com/office/drawing/2014/main" id="{BA1E21C1-CDA4-4E9C-94BA-08874FDC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75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尚未做真机测试</a:t>
            </a:r>
            <a:endParaRPr sz="16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boundary-copy-2">
            <a:extLst xmlns:a="http://schemas.openxmlformats.org/drawingml/2006/main">
              <a:ext uri="{FF2B5EF4-FFF2-40B4-BE49-F238E27FC236}">
                <a16:creationId xmlns:a16="http://schemas.microsoft.com/office/drawing/2014/main" id="{8A76A9BE-5072-4E31-A80C-2302CC4F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76725"/>
            <a:ext cx="975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模拟器已覆盖全部链路，含安装、启动和分布式双端；真机需要额外签名与设备管理成本。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boundary-line-2">
            <a:extLst xmlns:a="http://schemas.openxmlformats.org/drawingml/2006/main">
              <a:ext uri="{FF2B5EF4-FFF2-40B4-BE49-F238E27FC236}">
                <a16:creationId xmlns:a16="http://schemas.microsoft.com/office/drawing/2014/main" id="{83AC8C0A-6E27-4DDC-AF93-8423F0E9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975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9" name="boundary-dot-3">
            <a:extLst xmlns:a="http://schemas.openxmlformats.org/drawingml/2006/main">
              <a:ext uri="{FF2B5EF4-FFF2-40B4-BE49-F238E27FC236}">
                <a16:creationId xmlns:a16="http://schemas.microsoft.com/office/drawing/2014/main" id="{6194921B-1DFA-4091-BA8B-FA121347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txBody>
          <a:bodyPr xmlns:a="http://schemas.openxmlformats.org/drawingml/2006/main" wrap="square" lIns="95250" tIns="38100" rIns="952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B4530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B45309"/>
                </a:solidFill>
                <a:latin typeface="Noto Sans SC"/>
                <a:ea typeface="Noto Sans SC"/>
                <a:cs typeface="Noto Sans SC"/>
              </a:rPr>
              <a:t>04</a:t>
            </a:r>
            <a:endParaRPr sz="975" b="1">
              <a:solidFill>
                <a:srgbClr val="B4530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boundary-title-3">
            <a:extLst xmlns:a="http://schemas.openxmlformats.org/drawingml/2006/main">
              <a:ext uri="{FF2B5EF4-FFF2-40B4-BE49-F238E27FC236}">
                <a16:creationId xmlns:a16="http://schemas.microsoft.com/office/drawing/2014/main" id="{79E16AA8-5960-405E-A3D1-E71CE6CA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14900"/>
            <a:ext cx="975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作品说明文档插图与演示视频仍在收尾</a:t>
            </a:r>
            <a:endParaRPr sz="16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boundary-copy-3">
            <a:extLst xmlns:a="http://schemas.openxmlformats.org/drawingml/2006/main">
              <a:ext uri="{FF2B5EF4-FFF2-40B4-BE49-F238E27FC236}">
                <a16:creationId xmlns:a16="http://schemas.microsoft.com/office/drawing/2014/main" id="{BC875DDC-DB87-42F2-8B2F-D5F933FD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43525"/>
            <a:ext cx="975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核心产品能力和技术证据已完成，但提交材料仍属于在制状态。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6788084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e52b31fb344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2" name="accent-24">
            <a:extLst xmlns:a="http://schemas.openxmlformats.org/drawingml/2006/main">
              <a:ext uri="{FF2B5EF4-FFF2-40B4-BE49-F238E27FC236}">
                <a16:creationId xmlns:a16="http://schemas.microsoft.com/office/drawing/2014/main" id="{D9233250-E528-4EE3-B42C-02FB1449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E9E12620-5B38-47D8-98EB-E11CA45E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创新点总结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24">
            <a:extLst xmlns:a="http://schemas.openxmlformats.org/drawingml/2006/main">
              <a:ext uri="{FF2B5EF4-FFF2-40B4-BE49-F238E27FC236}">
                <a16:creationId xmlns:a16="http://schemas.microsoft.com/office/drawing/2014/main" id="{821491C6-476D-43B0-B6C1-E9FBE53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四条创新都落在可验证的产品行为与工程证据上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24">
            <a:extLst xmlns:a="http://schemas.openxmlformats.org/drawingml/2006/main">
              <a:ext uri="{FF2B5EF4-FFF2-40B4-BE49-F238E27FC236}">
                <a16:creationId xmlns:a16="http://schemas.microsoft.com/office/drawing/2014/main" id="{7B5D3C82-6C5C-4729-B9DD-CA29FCE5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24">
            <a:extLst xmlns:a="http://schemas.openxmlformats.org/drawingml/2006/main">
              <a:ext uri="{FF2B5EF4-FFF2-40B4-BE49-F238E27FC236}">
                <a16:creationId xmlns:a16="http://schemas.microsoft.com/office/drawing/2014/main" id="{4CCC5AB0-4AE2-4ED8-B963-A9138E5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24">
            <a:extLst xmlns:a="http://schemas.openxmlformats.org/drawingml/2006/main">
              <a:ext uri="{FF2B5EF4-FFF2-40B4-BE49-F238E27FC236}">
                <a16:creationId xmlns:a16="http://schemas.microsoft.com/office/drawing/2014/main" id="{26A05E90-70B2-4083-8BCD-772CF010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24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innovation-index-0">
            <a:extLst xmlns:a="http://schemas.openxmlformats.org/drawingml/2006/main">
              <a:ext uri="{FF2B5EF4-FFF2-40B4-BE49-F238E27FC236}">
                <a16:creationId xmlns:a16="http://schemas.microsoft.com/office/drawing/2014/main" id="{EDD61FA6-F35C-4F12-8904-7B5775E5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21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innovation-title-0">
            <a:extLst xmlns:a="http://schemas.openxmlformats.org/drawingml/2006/main">
              <a:ext uri="{FF2B5EF4-FFF2-40B4-BE49-F238E27FC236}">
                <a16:creationId xmlns:a16="http://schemas.microsoft.com/office/drawing/2014/main" id="{96065740-E468-4FC9-BC11-83B49AC0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764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可解释推荐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innovation-copy-0">
            <a:extLst xmlns:a="http://schemas.openxmlformats.org/drawingml/2006/main">
              <a:ext uri="{FF2B5EF4-FFF2-40B4-BE49-F238E27FC236}">
                <a16:creationId xmlns:a16="http://schemas.microsoft.com/office/drawing/2014/main" id="{980F3A89-09F1-497D-B808-1CEA92FF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33550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五因子逐项展开，每个因子给出原始值、权重与贡献分。</a:t>
            </a:r>
            <a:endParaRPr sz="142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innovation-line-0">
            <a:extLst xmlns:a="http://schemas.openxmlformats.org/drawingml/2006/main">
              <a:ext uri="{FF2B5EF4-FFF2-40B4-BE49-F238E27FC236}">
                <a16:creationId xmlns:a16="http://schemas.microsoft.com/office/drawing/2014/main" id="{1C394E40-6DDD-421E-B871-34522562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975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1" name="innovation-index-1">
            <a:extLst xmlns:a="http://schemas.openxmlformats.org/drawingml/2006/main">
              <a:ext uri="{FF2B5EF4-FFF2-40B4-BE49-F238E27FC236}">
                <a16:creationId xmlns:a16="http://schemas.microsoft.com/office/drawing/2014/main" id="{8FD1F105-28BB-4692-A7A5-DE4CDEFC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21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innovation-title-1">
            <a:extLst xmlns:a="http://schemas.openxmlformats.org/drawingml/2006/main">
              <a:ext uri="{FF2B5EF4-FFF2-40B4-BE49-F238E27FC236}">
                <a16:creationId xmlns:a16="http://schemas.microsoft.com/office/drawing/2014/main" id="{6E4D1745-62CB-47BA-BE0D-FA04BA07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确定性计算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innovation-copy-1">
            <a:extLst xmlns:a="http://schemas.openxmlformats.org/drawingml/2006/main">
              <a:ext uri="{FF2B5EF4-FFF2-40B4-BE49-F238E27FC236}">
                <a16:creationId xmlns:a16="http://schemas.microsoft.com/office/drawing/2014/main" id="{B0E07C36-2D86-4113-9BE4-4745B2A1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00350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模型只产语言，闭环数值全部由代码计算，结果可复现。</a:t>
            </a:r>
            <a:endParaRPr sz="142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innovation-line-1">
            <a:extLst xmlns:a="http://schemas.openxmlformats.org/drawingml/2006/main">
              <a:ext uri="{FF2B5EF4-FFF2-40B4-BE49-F238E27FC236}">
                <a16:creationId xmlns:a16="http://schemas.microsoft.com/office/drawing/2014/main" id="{5855373B-7836-4A00-861D-B14FC5C1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975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5" name="innovation-index-2">
            <a:extLst xmlns:a="http://schemas.openxmlformats.org/drawingml/2006/main">
              <a:ext uri="{FF2B5EF4-FFF2-40B4-BE49-F238E27FC236}">
                <a16:creationId xmlns:a16="http://schemas.microsoft.com/office/drawing/2014/main" id="{4E4E450C-AA0D-4ECD-BD69-C99F2706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21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innovation-title-2">
            <a:extLst xmlns:a="http://schemas.openxmlformats.org/drawingml/2006/main">
              <a:ext uri="{FF2B5EF4-FFF2-40B4-BE49-F238E27FC236}">
                <a16:creationId xmlns:a16="http://schemas.microsoft.com/office/drawing/2014/main" id="{C69AC4B0-128C-4F20-AA7F-51014BE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默认可追溯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innovation-copy-2">
            <a:extLst xmlns:a="http://schemas.openxmlformats.org/drawingml/2006/main">
              <a:ext uri="{FF2B5EF4-FFF2-40B4-BE49-F238E27FC236}">
                <a16:creationId xmlns:a16="http://schemas.microsoft.com/office/drawing/2014/main" id="{D216EE59-5528-4E60-BF99-878B6789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67150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每次决策、工具调用和版本变化都有轨迹，思维链不落盘。</a:t>
            </a:r>
            <a:endParaRPr sz="142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innovation-line-2">
            <a:extLst xmlns:a="http://schemas.openxmlformats.org/drawingml/2006/main">
              <a:ext uri="{FF2B5EF4-FFF2-40B4-BE49-F238E27FC236}">
                <a16:creationId xmlns:a16="http://schemas.microsoft.com/office/drawing/2014/main" id="{F64ADCB7-4613-402C-B726-4DD37BB7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9753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9" name="innovation-index-3">
            <a:extLst xmlns:a="http://schemas.openxmlformats.org/drawingml/2006/main">
              <a:ext uri="{FF2B5EF4-FFF2-40B4-BE49-F238E27FC236}">
                <a16:creationId xmlns:a16="http://schemas.microsoft.com/office/drawing/2014/main" id="{0D069637-7E78-45FA-8BFD-AAD9EE1F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04</a:t>
            </a:r>
            <a:endParaRPr sz="217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innovation-title-3">
            <a:extLst xmlns:a="http://schemas.openxmlformats.org/drawingml/2006/main">
              <a:ext uri="{FF2B5EF4-FFF2-40B4-BE49-F238E27FC236}">
                <a16:creationId xmlns:a16="http://schemas.microsoft.com/office/drawing/2014/main" id="{8DAB0508-A0DB-418B-8E50-83A3BADA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诚实降级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innovation-copy-3">
            <a:extLst xmlns:a="http://schemas.openxmlformats.org/drawingml/2006/main">
              <a:ext uri="{FF2B5EF4-FFF2-40B4-BE49-F238E27FC236}">
                <a16:creationId xmlns:a16="http://schemas.microsoft.com/office/drawing/2014/main" id="{F1906D26-1E70-4008-8BEA-9EC8CC0C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33950"/>
            <a:ext cx="716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规则兜底时明确标注降级，不以“AI”名义掩盖能力边界。</a:t>
            </a:r>
            <a:endParaRPr sz="142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45550848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c5354dcfc49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9" name="accent-25">
            <a:extLst xmlns:a="http://schemas.openxmlformats.org/drawingml/2006/main">
              <a:ext uri="{FF2B5EF4-FFF2-40B4-BE49-F238E27FC236}">
                <a16:creationId xmlns:a16="http://schemas.microsoft.com/office/drawing/2014/main" id="{8AF10AE4-480E-44E5-A5DD-0788631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1CE77B6A-7440-48D9-B063-BA0C4D9D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前景与应用场景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25">
            <a:extLst xmlns:a="http://schemas.openxmlformats.org/drawingml/2006/main">
              <a:ext uri="{FF2B5EF4-FFF2-40B4-BE49-F238E27FC236}">
                <a16:creationId xmlns:a16="http://schemas.microsoft.com/office/drawing/2014/main" id="{2C1A88F6-A08E-4D11-8E7D-87D559B3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从一个人的学习闭环，延伸到课程、班级和系统级入口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25">
            <a:extLst xmlns:a="http://schemas.openxmlformats.org/drawingml/2006/main">
              <a:ext uri="{FF2B5EF4-FFF2-40B4-BE49-F238E27FC236}">
                <a16:creationId xmlns:a16="http://schemas.microsoft.com/office/drawing/2014/main" id="{F1569A3D-4997-4612-892C-E29A6B43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25">
            <a:extLst xmlns:a="http://schemas.openxmlformats.org/drawingml/2006/main">
              <a:ext uri="{FF2B5EF4-FFF2-40B4-BE49-F238E27FC236}">
                <a16:creationId xmlns:a16="http://schemas.microsoft.com/office/drawing/2014/main" id="{EFC98DDB-C077-4E44-8166-BA4AB18C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25">
            <a:extLst xmlns:a="http://schemas.openxmlformats.org/drawingml/2006/main">
              <a:ext uri="{FF2B5EF4-FFF2-40B4-BE49-F238E27FC236}">
                <a16:creationId xmlns:a16="http://schemas.microsoft.com/office/drawing/2014/main" id="{0559D88B-0ADF-4ECA-89CD-2E81899E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25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future-card-0">
            <a:extLst xmlns:a="http://schemas.openxmlformats.org/drawingml/2006/main">
              <a:ext uri="{FF2B5EF4-FFF2-40B4-BE49-F238E27FC236}">
                <a16:creationId xmlns:a16="http://schemas.microsoft.com/office/drawing/2014/main" id="{D8620AB1-6ABD-43C5-B2EF-D3DEF273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295650" cy="33718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future-direction-0">
            <a:extLst xmlns:a="http://schemas.openxmlformats.org/drawingml/2006/main">
              <a:ext uri="{FF2B5EF4-FFF2-40B4-BE49-F238E27FC236}">
                <a16:creationId xmlns:a16="http://schemas.microsoft.com/office/drawing/2014/main" id="{ED3C5C86-A71E-42E9-ADF3-D266780B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横向</a:t>
            </a:r>
            <a:endParaRPr sz="14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future-title-0">
            <a:extLst xmlns:a="http://schemas.openxmlformats.org/drawingml/2006/main">
              <a:ext uri="{FF2B5EF4-FFF2-40B4-BE49-F238E27FC236}">
                <a16:creationId xmlns:a16="http://schemas.microsoft.com/office/drawing/2014/main" id="{168D3512-1581-477F-B28B-44DB41A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覆盖课程与班级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future-copy-0">
            <a:extLst xmlns:a="http://schemas.openxmlformats.org/drawingml/2006/main">
              <a:ext uri="{FF2B5EF4-FFF2-40B4-BE49-F238E27FC236}">
                <a16:creationId xmlns:a16="http://schemas.microsoft.com/office/drawing/2014/main" id="{51E2B154-FCEF-40AE-9CBD-AD63A55C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276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错题、薄弱点与学习节奏可沉淀为班级学情，支持教师理解共性问题。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future-card-1">
            <a:extLst xmlns:a="http://schemas.openxmlformats.org/drawingml/2006/main">
              <a:ext uri="{FF2B5EF4-FFF2-40B4-BE49-F238E27FC236}">
                <a16:creationId xmlns:a16="http://schemas.microsoft.com/office/drawing/2014/main" id="{323C2758-A957-4654-8F7B-E8B4C24F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47850"/>
            <a:ext cx="3295650" cy="33718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future-direction-1">
            <a:extLst xmlns:a="http://schemas.openxmlformats.org/drawingml/2006/main">
              <a:ext uri="{FF2B5EF4-FFF2-40B4-BE49-F238E27FC236}">
                <a16:creationId xmlns:a16="http://schemas.microsoft.com/office/drawing/2014/main" id="{95168E55-D3C7-40C8-A786-E8B7F02D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纵向</a:t>
            </a:r>
            <a:endParaRPr sz="14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future-title-1">
            <a:extLst xmlns:a="http://schemas.openxmlformats.org/drawingml/2006/main">
              <a:ext uri="{FF2B5EF4-FFF2-40B4-BE49-F238E27FC236}">
                <a16:creationId xmlns:a16="http://schemas.microsoft.com/office/drawing/2014/main" id="{6671C4F4-5D06-415F-BFCF-4375FF59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延伸到课前预习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future-copy-1">
            <a:extLst xmlns:a="http://schemas.openxmlformats.org/drawingml/2006/main">
              <a:ext uri="{FF2B5EF4-FFF2-40B4-BE49-F238E27FC236}">
                <a16:creationId xmlns:a16="http://schemas.microsoft.com/office/drawing/2014/main" id="{985BCB75-769B-492C-A1E2-B585DD4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276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把诊断前移到知识尚未落下之前，形成预习、课堂和复习的连续路径。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future-card-2">
            <a:extLst xmlns:a="http://schemas.openxmlformats.org/drawingml/2006/main">
              <a:ext uri="{FF2B5EF4-FFF2-40B4-BE49-F238E27FC236}">
                <a16:creationId xmlns:a16="http://schemas.microsoft.com/office/drawing/2014/main" id="{F6C11E5B-35CB-4474-8990-321434FD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3295650" cy="33718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future-direction-2">
            <a:extLst xmlns:a="http://schemas.openxmlformats.org/drawingml/2006/main">
              <a:ext uri="{FF2B5EF4-FFF2-40B4-BE49-F238E27FC236}">
                <a16:creationId xmlns:a16="http://schemas.microsoft.com/office/drawing/2014/main" id="{266F9310-AD62-43E4-A576-A263A0E0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形态</a:t>
            </a:r>
            <a:endParaRPr sz="1425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future-title-2">
            <a:extLst xmlns:a="http://schemas.openxmlformats.org/drawingml/2006/main">
              <a:ext uri="{FF2B5EF4-FFF2-40B4-BE49-F238E27FC236}">
                <a16:creationId xmlns:a16="http://schemas.microsoft.com/office/drawing/2014/main" id="{BAC4BBB5-BC1A-4F98-85F4-561AFD7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成为系统级能力</a:t>
            </a:r>
            <a:endParaRPr sz="18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future-copy-2">
            <a:extLst xmlns:a="http://schemas.openxmlformats.org/drawingml/2006/main">
              <a:ext uri="{FF2B5EF4-FFF2-40B4-BE49-F238E27FC236}">
                <a16:creationId xmlns:a16="http://schemas.microsoft.com/office/drawing/2014/main" id="{3D2BE50D-6234-425C-8620-ADC5C904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43300"/>
            <a:ext cx="2762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依托服务卡片与小艺意图，让学习搭子随时可唤起，不必每次主动打开应用。</a:t>
            </a:r>
            <a:endParaRPr sz="1275" b="0">
              <a:solidFill>
                <a:srgbClr val="1F2937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4562267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0fb3f5fce467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4" name="accent-26">
            <a:extLst xmlns:a="http://schemas.openxmlformats.org/drawingml/2006/main">
              <a:ext uri="{FF2B5EF4-FFF2-40B4-BE49-F238E27FC236}">
                <a16:creationId xmlns:a16="http://schemas.microsoft.com/office/drawing/2014/main" id="{B2498FF9-5DCE-4304-856F-9279982F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55C9AA5B-62F1-448D-A875-11041EAC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团队分工</a:t>
            </a:r>
            <a:endParaRPr sz="255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subtitle-26">
            <a:extLst xmlns:a="http://schemas.openxmlformats.org/drawingml/2006/main">
              <a:ext uri="{FF2B5EF4-FFF2-40B4-BE49-F238E27FC236}">
                <a16:creationId xmlns:a16="http://schemas.microsoft.com/office/drawing/2014/main" id="{EA4240D3-0F3F-4EB7-9F9A-A0C050F2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产品架构、Agent 逻辑与 HarmonyOS 前端形成互补</a:t>
            </a:r>
            <a:endParaRPr sz="1350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footer-line-26">
            <a:extLst xmlns:a="http://schemas.openxmlformats.org/drawingml/2006/main">
              <a:ext uri="{FF2B5EF4-FFF2-40B4-BE49-F238E27FC236}">
                <a16:creationId xmlns:a16="http://schemas.microsoft.com/office/drawing/2014/main" id="{CA6BCD12-CA90-4404-9343-6034BADA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5" name="footer-26">
            <a:extLst xmlns:a="http://schemas.openxmlformats.org/drawingml/2006/main">
              <a:ext uri="{FF2B5EF4-FFF2-40B4-BE49-F238E27FC236}">
                <a16:creationId xmlns:a16="http://schemas.microsoft.com/office/drawing/2014/main" id="{4A69BFC4-6972-4673-947F-D5DC7F7A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98A2B3"/>
                </a:solidFill>
                <a:latin typeface="Noto Sans SC"/>
                <a:ea typeface="Noto Sans SC"/>
                <a:cs typeface="Noto Sans SC"/>
              </a:rPr>
              <a:t>知学 Mate · 2026 中国高校计算机大赛 · 人工智能创意赛 · 鸿蒙赛道</a:t>
            </a:r>
            <a:endParaRPr sz="825" b="0">
              <a:solidFill>
                <a:srgbClr val="98A2B3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page-26">
            <a:extLst xmlns:a="http://schemas.openxmlformats.org/drawingml/2006/main">
              <a:ext uri="{FF2B5EF4-FFF2-40B4-BE49-F238E27FC236}">
                <a16:creationId xmlns:a16="http://schemas.microsoft.com/office/drawing/2014/main" id="{F879B923-439B-4CCF-B6A2-69CFADA6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055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26</a:t>
            </a:r>
            <a:endParaRPr sz="9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team-card-0">
            <a:extLst xmlns:a="http://schemas.openxmlformats.org/drawingml/2006/main">
              <a:ext uri="{FF2B5EF4-FFF2-40B4-BE49-F238E27FC236}">
                <a16:creationId xmlns:a16="http://schemas.microsoft.com/office/drawing/2014/main" id="{EF22FD62-8BCA-42B3-A665-C297D648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1845"/>
            <a:ext cx="3333750" cy="208216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team-name-0">
            <a:extLst xmlns:a="http://schemas.openxmlformats.org/drawingml/2006/main">
              <a:ext uri="{FF2B5EF4-FFF2-40B4-BE49-F238E27FC236}">
                <a16:creationId xmlns:a16="http://schemas.microsoft.com/office/drawing/2014/main" id="{B1880DBD-01B7-484E-AD91-540C0060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711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许梓恒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team-role-0">
            <a:extLst xmlns:a="http://schemas.openxmlformats.org/drawingml/2006/main">
              <a:ext uri="{FF2B5EF4-FFF2-40B4-BE49-F238E27FC236}">
                <a16:creationId xmlns:a16="http://schemas.microsoft.com/office/drawing/2014/main" id="{E9657941-1FCC-49C7-8DE9-337D80E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336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队长 · 产品架构与项目总控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team-duties-0">
            <a:extLst xmlns:a="http://schemas.openxmlformats.org/drawingml/2006/main">
              <a:ext uri="{FF2B5EF4-FFF2-40B4-BE49-F238E27FC236}">
                <a16:creationId xmlns:a16="http://schemas.microsoft.com/office/drawing/2014/main" id="{55B55C1F-4A05-43C8-82E2-2835780E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106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产品定位 · 系统架构 · 数据规范 · Prompt 与验证统筹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team-card-1">
            <a:extLst xmlns:a="http://schemas.openxmlformats.org/drawingml/2006/main">
              <a:ext uri="{FF2B5EF4-FFF2-40B4-BE49-F238E27FC236}">
                <a16:creationId xmlns:a16="http://schemas.microsoft.com/office/drawing/2014/main" id="{8C8012AA-1F0B-481C-8A7E-F43AA159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60575"/>
            <a:ext cx="3333750" cy="208343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team-name-1">
            <a:extLst xmlns:a="http://schemas.openxmlformats.org/drawingml/2006/main">
              <a:ext uri="{FF2B5EF4-FFF2-40B4-BE49-F238E27FC236}">
                <a16:creationId xmlns:a16="http://schemas.microsoft.com/office/drawing/2014/main" id="{F5551800-1562-4024-8F80-ABE62F93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7711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黄恩博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team-role-1">
            <a:extLst xmlns:a="http://schemas.openxmlformats.org/drawingml/2006/main">
              <a:ext uri="{FF2B5EF4-FFF2-40B4-BE49-F238E27FC236}">
                <a16:creationId xmlns:a16="http://schemas.microsoft.com/office/drawing/2014/main" id="{D5455B93-7359-4681-A81C-97BA0466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5336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Agent 逻辑与算法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team-duties-1">
            <a:extLst xmlns:a="http://schemas.openxmlformats.org/drawingml/2006/main">
              <a:ext uri="{FF2B5EF4-FFF2-40B4-BE49-F238E27FC236}">
                <a16:creationId xmlns:a16="http://schemas.microsoft.com/office/drawing/2014/main" id="{BBC64903-39D0-462C-AF3D-A38C24D6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106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后端服务 · 学习建议 · 匹配算法 · OCR 与大模型接口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team-card-2">
            <a:extLst xmlns:a="http://schemas.openxmlformats.org/drawingml/2006/main">
              <a:ext uri="{FF2B5EF4-FFF2-40B4-BE49-F238E27FC236}">
                <a16:creationId xmlns:a16="http://schemas.microsoft.com/office/drawing/2014/main" id="{7241D15A-4D2C-42B7-957C-65E8C1EB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4860"/>
            <a:ext cx="3333750" cy="20891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team-name-2">
            <a:extLst xmlns:a="http://schemas.openxmlformats.org/drawingml/2006/main">
              <a:ext uri="{FF2B5EF4-FFF2-40B4-BE49-F238E27FC236}">
                <a16:creationId xmlns:a16="http://schemas.microsoft.com/office/drawing/2014/main" id="{51C9D019-E356-46B2-9083-4ED14B6E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7711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周玥妍</a:t>
            </a:r>
            <a:endParaRPr sz="2100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team-role-2">
            <a:extLst xmlns:a="http://schemas.openxmlformats.org/drawingml/2006/main">
              <a:ext uri="{FF2B5EF4-FFF2-40B4-BE49-F238E27FC236}">
                <a16:creationId xmlns:a16="http://schemas.microsoft.com/office/drawing/2014/main" id="{812710A7-21B1-4573-87F7-E03634E5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5336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HarmonyOS 原生开发</a:t>
            </a:r>
            <a:endParaRPr sz="1350" b="1">
              <a:solidFill>
                <a:srgbClr val="2563EB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1" name="team-duties-2">
            <a:extLst xmlns:a="http://schemas.openxmlformats.org/drawingml/2006/main">
              <a:ext uri="{FF2B5EF4-FFF2-40B4-BE49-F238E27FC236}">
                <a16:creationId xmlns:a16="http://schemas.microsoft.com/office/drawing/2014/main" id="{A0045B47-A76E-40B4-A18B-E4DAF67F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106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7085"/>
                </a:solidFill>
                <a:latin typeface="Noto Sans SC"/>
                <a:ea typeface="Noto Sans SC"/>
                <a:cs typeface="Noto Sans SC"/>
              </a:rPr>
              <a:t>ArkTS / ArkUI · 页面与组件 · 状态管理 · 多设备适配</a:t>
            </a:r>
            <a:endParaRPr sz="1125" b="0">
              <a:solidFill>
                <a:srgbClr val="66708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am-teacher">
            <a:extLst xmlns:a="http://schemas.openxmlformats.org/drawingml/2006/main">
              <a:ext uri="{FF2B5EF4-FFF2-40B4-BE49-F238E27FC236}">
                <a16:creationId xmlns:a16="http://schemas.microsoft.com/office/drawing/2014/main" id="{17483493-2B9F-4213-858D-EFEE2BD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77410"/>
            <a:ext cx="6286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3" name="team-teacher-copy">
            <a:extLst xmlns:a="http://schemas.openxmlformats.org/drawingml/2006/main">
              <a:ext uri="{FF2B5EF4-FFF2-40B4-BE49-F238E27FC236}">
                <a16:creationId xmlns:a16="http://schemas.microsoft.com/office/drawing/2014/main" id="{614D01F9-A285-4B2E-BA79-DED6994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01235"/>
            <a:ext cx="579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F3A5F"/>
                </a:solidFill>
                <a:latin typeface="Noto Sans SC"/>
                <a:ea typeface="Noto Sans SC"/>
                <a:cs typeface="Noto Sans SC"/>
              </a:rPr>
              <a:t>指导教师：罗芳 · 武汉理工大学人工智能学院副教授</a:t>
            </a:r>
            <a:endParaRPr sz="1275" b="1">
              <a:solidFill>
                <a:srgbClr val="1F3A5F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5923302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F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65b422adf4c0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thanks-title">
            <a:extLst xmlns:a="http://schemas.openxmlformats.org/drawingml/2006/main">
              <a:ext uri="{FF2B5EF4-FFF2-40B4-BE49-F238E27FC236}">
                <a16:creationId xmlns:a16="http://schemas.microsoft.com/office/drawing/2014/main" id="{26E5820A-AA31-4F01-BE35-FD0FBB65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71700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5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57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谢谢</a:t>
            </a:r>
            <a:endParaRPr sz="5700"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" name="thanks-q">
            <a:extLst xmlns:a="http://schemas.openxmlformats.org/drawingml/2006/main">
              <a:ext uri="{FF2B5EF4-FFF2-40B4-BE49-F238E27FC236}">
                <a16:creationId xmlns:a16="http://schemas.microsoft.com/office/drawing/2014/main" id="{27E2DD2D-A88A-4EEF-BA24-721755C7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50" b="1">
                <a:solidFill>
                  <a:srgbClr val="93C5FD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93C5FD"/>
                </a:solidFill>
                <a:latin typeface="Noto Sans SC"/>
                <a:ea typeface="Noto Sans SC"/>
                <a:cs typeface="Noto Sans SC"/>
              </a:rPr>
              <a:t>Q&amp;A</a:t>
            </a:r>
            <a:endParaRPr sz="2850" b="1">
              <a:solidFill>
                <a:srgbClr val="93C5FD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" name="thanks-line">
            <a:extLst xmlns:a="http://schemas.openxmlformats.org/drawingml/2006/main">
              <a:ext uri="{FF2B5EF4-FFF2-40B4-BE49-F238E27FC236}">
                <a16:creationId xmlns:a16="http://schemas.microsoft.com/office/drawing/2014/main" id="{8725469A-7EC0-4105-B0F7-2232F7DD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4749B"/>
            </a:solidFill>
            <a:prstDash val="solid"/>
          </a:ln>
        </p:spPr>
      </p:sp>
      <p:sp>
        <p:nvSpPr>
          <p:cNvPr id="4" name="thanks-team">
            <a:extLst xmlns:a="http://schemas.openxmlformats.org/drawingml/2006/main">
              <a:ext uri="{FF2B5EF4-FFF2-40B4-BE49-F238E27FC236}">
                <a16:creationId xmlns:a16="http://schemas.microsoft.com/office/drawing/2014/main" id="{870E316B-5544-4228-822E-6F4B2C90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E2E8F0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E2E8F0"/>
                </a:solidFill>
                <a:latin typeface="Noto Sans SC"/>
                <a:ea typeface="Noto Sans SC"/>
                <a:cs typeface="Noto Sans SC"/>
              </a:rPr>
              <a:t>暗影骑士王们 · 武汉理工大学 · 知学 Mate</a:t>
            </a:r>
            <a:endParaRPr sz="1575" b="0">
              <a:solidFill>
                <a:srgbClr val="E2E8F0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20210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2026-09-29T15:40:27.5460000Z</dcterms:created>
  <dcterms:modified xsi:type="dcterms:W3CDTF">2026-09-29T15:40:27.5460000Z</dcterms:modified>
</coreProperties>
</file>